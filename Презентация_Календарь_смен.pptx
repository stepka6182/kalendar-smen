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24" autoAdjust="0"/>
  </p:normalViewPr>
  <p:slideViewPr>
    <p:cSldViewPr snapToGrid="0" snapToObjects="1">
      <p:cViewPr>
        <p:scale>
          <a:sx n="66" d="100"/>
          <a:sy n="66" d="100"/>
        </p:scale>
        <p:origin x="2274" y="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188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Представление команды. Называем тему: приложение «Календарь смен» для сотрудников со сменным графиком. Сразу обозначаем, кто за что отвечает, чтобы дальше каждый говорил о своей части. Общее время защиты — около 10–12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Проблема: сменщику нужно быстро понять, работает ли он в конкретный день. Штатные календари не знают про цикл «2 через 2», поэтому люди заполняют события вручную — на год это 150–180 записей, а при смене графика всё приходится переделывать. Цифру 16 % даёт опрос «Авито Работы» и «Контур.Толка» (май 2025, 7 500 человек); надёжность средняя, поэтому в отчёте она приведена как оценка, а не как факт.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Данные собраны вручную со страниц RuStore 2 октября 2026 года: рейтинг, число оценок и отзывов, скачивания и модель монетизации. Страницы Google Play из нашей среды не открывались, поэтому по ним цифры не приводим — это честная оговорка. Вывод: рынок сформирован, но монополиста нет, доли лидеров сопоставимы.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разобрали отзывы всех пяти приложений и выписали повторяющиеся претензии дословно. Самая ценная находка: у лидера по рейтингу пользователи массово не могут купить платную версию — оплата российскими картами не проходит. Это не проблема продукта, а проблема инфраструктуры, и она решается размещением в RuStore, где приём платежей работает, а комиссия — 15 %.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Модель — freemium с подпиской. Базовая версия бесплатна: она нужна, чтобы набрать аудиторию и отзывы. Платить предлагаем за удобство: несколько графиков, виджет, напоминания, экспорт и синхронизацию. Все допущения названы прямо, чтобы расчёт можно было проверить: 50 000 установок, 30 % активных, 2,5 % платящих, средний чек 917 рублей в год.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Перечисляем функции по факту: всё, что на слайде, проверено на устройстве. Отдельно называем ближайшие шаги — виджет и напоминания, потому что именно они чаще всего упоминаются в отзывах конкурентов.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Показываем четыре экрана: главный с графиком «2/2» от 1 октября 2026 года, раскрытые настройки, переход на следующий месяц и диалог правки дня. Обращаем внимание: 1 и 2 октября изменены вручную — красная и зелёная клетки, они отличаются от расчётных. Проверяли так: 1 ноября выходной, 2 и 3 ноября рабочие — совпадает с ручным подсчётом.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Дизайнер объясняет, на что опирался. Основа — Material 3 от Google: готовая система компонентов, поэтому интерфейс выглядит нативно. Паттерн календарной сетки взят из системного календаря. Главное решение принято по отзывам конкурентов: там пользователи жалуются, что не понимают, как задать график «2/2», поэтому у нас настройка — это два поля с числами.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Здесь про то, как улучшали код. Перебор дней заменили на разницу дат — сложность упала с «по дню на каждый день» до одной операции. Объём файла сократили примерно в два раза. Убрали дублирование: текст в поле и сохранённое значение больше не путаются. И закрыли два падения — при вводе букв и при нулевой длине цикла.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Здесь про то, какие данные анализировали и как оценивали. Основные источники: карточки и отзывы пяти приложений в RuStore, опрос 7 500 человек о режиме работы, официальные страницы комиссий магазинов, закон о персональных данных и статья 103 Трудового кодекса. Все допущения названы прямо, а там, где данных не было, так и написано — цифры не додумывались.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Вывод: гипотеза подтверждена частично — основная функция работает и проверена, но спрос мы пока не измерили, потому что приложение не опубликовано. Развивать проект стоит при условии: сначала бесплатная публикация и сбор отзывов, затем платные функции. Экономику делает не цена подписки, а доля платящих пользователей.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691640"/>
            <a:ext cx="82296" cy="123444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164592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800" b="1">
                <a:solidFill>
                  <a:srgbClr val="1B2430"/>
                </a:solidFill>
                <a:latin typeface="Segoe UI"/>
              </a:rPr>
              <a:t>Календарь смен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395728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>
                <a:solidFill>
                  <a:srgbClr val="6B7280"/>
                </a:solidFill>
                <a:latin typeface="Segoe UI"/>
              </a:rPr>
              <a:t>Мобильное приложение для людей со сменным графиком работы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246120"/>
            <a:ext cx="5120640" cy="18288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3474720"/>
            <a:ext cx="10058400" cy="1031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 err="1">
                <a:solidFill>
                  <a:srgbClr val="1B2430"/>
                </a:solidFill>
                <a:latin typeface="Segoe UI"/>
              </a:rPr>
              <a:t>Командный</a:t>
            </a:r>
            <a:r>
              <a:rPr sz="1500" b="1" dirty="0">
                <a:solidFill>
                  <a:srgbClr val="1B2430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1B2430"/>
                </a:solidFill>
                <a:latin typeface="Segoe UI"/>
              </a:rPr>
              <a:t>проект</a:t>
            </a:r>
            <a:r>
              <a:rPr sz="1500" b="1" dirty="0">
                <a:solidFill>
                  <a:srgbClr val="1B2430"/>
                </a:solidFill>
                <a:latin typeface="Segoe UI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6B7280"/>
                </a:solidFill>
                <a:latin typeface="Segoe UI"/>
              </a:rPr>
              <a:t>Аналитика</a:t>
            </a:r>
            <a:r>
              <a:rPr sz="1400" b="0" dirty="0">
                <a:solidFill>
                  <a:srgbClr val="6B7280"/>
                </a:solidFill>
                <a:latin typeface="Segoe UI"/>
              </a:rPr>
              <a:t> и </a:t>
            </a:r>
            <a:r>
              <a:rPr sz="1400" b="0" dirty="0" err="1">
                <a:solidFill>
                  <a:srgbClr val="6B7280"/>
                </a:solidFill>
                <a:latin typeface="Segoe UI"/>
              </a:rPr>
              <a:t>отчёт</a:t>
            </a:r>
            <a:r>
              <a:rPr sz="1400" b="0" dirty="0">
                <a:solidFill>
                  <a:srgbClr val="6B7280"/>
                </a:solidFill>
                <a:latin typeface="Segoe UI"/>
              </a:rPr>
              <a:t> — [</a:t>
            </a:r>
            <a:r>
              <a:rPr lang="ru-RU" sz="1400" dirty="0">
                <a:solidFill>
                  <a:srgbClr val="6B7280"/>
                </a:solidFill>
                <a:latin typeface="Segoe UI"/>
              </a:rPr>
              <a:t>Черняков Т</a:t>
            </a:r>
            <a:r>
              <a:rPr sz="1400" b="0" dirty="0">
                <a:solidFill>
                  <a:srgbClr val="6B7280"/>
                </a:solidFill>
                <a:latin typeface="Segoe UI"/>
              </a:rPr>
              <a:t>.</a:t>
            </a:r>
            <a:r>
              <a:rPr lang="ru-RU" sz="1400" b="0" dirty="0">
                <a:solidFill>
                  <a:srgbClr val="6B7280"/>
                </a:solidFill>
                <a:latin typeface="Segoe UI"/>
              </a:rPr>
              <a:t>Е</a:t>
            </a:r>
            <a:r>
              <a:rPr sz="1400" b="0" dirty="0">
                <a:solidFill>
                  <a:srgbClr val="6B7280"/>
                </a:solidFill>
                <a:latin typeface="Segoe UI"/>
              </a:rPr>
              <a:t>]</a:t>
            </a:r>
          </a:p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6B7280"/>
                </a:solidFill>
                <a:latin typeface="Segoe UI"/>
              </a:rPr>
              <a:t>Разработка</a:t>
            </a:r>
            <a:r>
              <a:rPr sz="1400" b="0" dirty="0">
                <a:solidFill>
                  <a:srgbClr val="6B7280"/>
                </a:solidFill>
                <a:latin typeface="Segoe UI"/>
              </a:rPr>
              <a:t> — [</a:t>
            </a:r>
            <a:r>
              <a:rPr lang="ru-RU" sz="1400" dirty="0">
                <a:solidFill>
                  <a:srgbClr val="6B7280"/>
                </a:solidFill>
                <a:latin typeface="Segoe UI"/>
              </a:rPr>
              <a:t>Крупин С.Д</a:t>
            </a:r>
            <a:r>
              <a:rPr sz="1400" b="0" dirty="0">
                <a:solidFill>
                  <a:srgbClr val="6B7280"/>
                </a:solidFill>
                <a:latin typeface="Segoe UI"/>
              </a:rPr>
              <a:t>]</a:t>
            </a:r>
          </a:p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6B7280"/>
                </a:solidFill>
                <a:latin typeface="Segoe UI"/>
              </a:rPr>
              <a:t>Дизайн</a:t>
            </a:r>
            <a:r>
              <a:rPr sz="1400" b="0" dirty="0">
                <a:solidFill>
                  <a:srgbClr val="6B7280"/>
                </a:solidFill>
                <a:latin typeface="Segoe UI"/>
              </a:rPr>
              <a:t> UI/UX — [</a:t>
            </a:r>
            <a:r>
              <a:rPr lang="ru-RU" sz="1400" dirty="0">
                <a:solidFill>
                  <a:srgbClr val="6B7280"/>
                </a:solidFill>
                <a:latin typeface="Segoe UI"/>
              </a:rPr>
              <a:t>Мещеряков Н.Е</a:t>
            </a:r>
            <a:r>
              <a:rPr sz="1400" b="0" dirty="0">
                <a:solidFill>
                  <a:srgbClr val="6B7280"/>
                </a:solidFill>
                <a:latin typeface="Segoe UI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989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6B7280"/>
                </a:solidFill>
                <a:latin typeface="Segoe UI"/>
              </a:rPr>
              <a:t>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>
                <a:solidFill>
                  <a:srgbClr val="1B2430"/>
                </a:solidFill>
                <a:latin typeface="Segoe UI"/>
              </a:rPr>
              <a:t>Проблема и целевая аудитория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280160" cy="50292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Календарь смен · командный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6422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122092" cy="1417320"/>
          </a:xfrm>
          <a:prstGeom prst="roundRect">
            <a:avLst>
              <a:gd name="adj" fmla="val 9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08760"/>
            <a:ext cx="311810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B57D0"/>
                </a:solidFill>
                <a:latin typeface="Segoe UI"/>
              </a:rPr>
              <a:t>16 %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67128"/>
            <a:ext cx="311810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Segoe UI"/>
              </a:rPr>
              <a:t>работающих россиян трудятся</a:t>
            </a:r>
          </a:p>
          <a:p>
            <a:r>
              <a:rPr sz="1200">
                <a:solidFill>
                  <a:srgbClr val="6B7280"/>
                </a:solidFill>
                <a:latin typeface="Segoe UI"/>
              </a:rPr>
              <a:t>по сменному графику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63339" y="1325880"/>
            <a:ext cx="5558101" cy="1417320"/>
          </a:xfrm>
          <a:prstGeom prst="roundRect">
            <a:avLst>
              <a:gd name="adj" fmla="val 9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96228" y="1408176"/>
            <a:ext cx="311810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dirty="0">
                <a:solidFill>
                  <a:srgbClr val="0B57D0"/>
                </a:solidFill>
                <a:latin typeface="Segoe UI"/>
              </a:rPr>
              <a:t>11–15 </a:t>
            </a:r>
            <a:r>
              <a:rPr sz="3000" b="1" dirty="0" err="1">
                <a:solidFill>
                  <a:srgbClr val="0B57D0"/>
                </a:solidFill>
                <a:latin typeface="Segoe UI"/>
              </a:rPr>
              <a:t>млн</a:t>
            </a:r>
            <a:endParaRPr sz="3000" b="1" dirty="0">
              <a:solidFill>
                <a:srgbClr val="0B57D0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96228" y="2093976"/>
            <a:ext cx="311810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Segoe UI"/>
              </a:rPr>
              <a:t>оценка численности людей</a:t>
            </a:r>
          </a:p>
          <a:p>
            <a:r>
              <a:rPr sz="1200">
                <a:solidFill>
                  <a:srgbClr val="6B7280"/>
                </a:solidFill>
                <a:latin typeface="Segoe UI"/>
              </a:rPr>
              <a:t>с циклическим графиком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63240"/>
            <a:ext cx="10881360" cy="17962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dirty="0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 </a:t>
            </a:r>
            <a:r>
              <a:rPr sz="1600" b="1" dirty="0" err="1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  <a:r>
              <a:rPr sz="1600" b="1" dirty="0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нужно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знать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заранее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обычный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календарь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понимает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цикл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dirty="0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 </a:t>
            </a:r>
            <a:r>
              <a:rPr sz="1600" b="1" dirty="0" err="1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Аудитория</a:t>
            </a:r>
            <a:r>
              <a:rPr sz="1600" b="1" dirty="0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Охрана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медицина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торговля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производство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транспорт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вахта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dirty="0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 </a:t>
            </a:r>
            <a:r>
              <a:rPr sz="1600" b="1" dirty="0" err="1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Сценарии</a:t>
            </a:r>
            <a:r>
              <a:rPr sz="1600" b="1" dirty="0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Планирование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дел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дня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замена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смены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смена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графика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dirty="0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 </a:t>
            </a:r>
            <a:r>
              <a:rPr sz="1600" b="1" dirty="0" err="1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Почему</a:t>
            </a:r>
            <a:r>
              <a:rPr sz="1600" b="1" dirty="0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 err="1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</a:t>
            </a:r>
            <a:r>
              <a:rPr sz="1600" b="1" dirty="0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Работает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интернета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ответ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секунды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есть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виджет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уведомления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dirty="0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 </a:t>
            </a:r>
            <a:r>
              <a:rPr sz="1600" b="1" dirty="0" err="1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</a:t>
            </a:r>
            <a:r>
              <a:rPr sz="1600" b="1" dirty="0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 err="1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sz="1600" b="1" dirty="0">
                <a:solidFill>
                  <a:srgbClr val="0B57D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Опрос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7 500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2025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год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надёжность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оценена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</a:t>
            </a:r>
            <a:r>
              <a:rPr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>
                <a:solidFill>
                  <a:srgbClr val="1B2430"/>
                </a:solidFill>
                <a:latin typeface="Segoe UI"/>
              </a:rPr>
              <a:t>Анализ конкурентов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280160" cy="50292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Календарь смен · командный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6422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Segoe UI"/>
                        </a:rPr>
                        <a:t>Приложение</a:t>
                      </a:r>
                    </a:p>
                  </a:txBody>
                  <a:tcPr marL="73152" marR="54864" marT="27432" marB="27432" anchor="ctr"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Segoe UI"/>
                        </a:rPr>
                        <a:t>Рейтинг</a:t>
                      </a:r>
                    </a:p>
                  </a:txBody>
                  <a:tcPr marL="73152" marR="54864" marT="27432" marB="27432" anchor="ctr"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Segoe UI"/>
                        </a:rPr>
                        <a:t>Оценок / отзывов</a:t>
                      </a:r>
                    </a:p>
                  </a:txBody>
                  <a:tcPr marL="73152" marR="54864" marT="27432" marB="27432" anchor="ctr"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Segoe UI"/>
                        </a:rPr>
                        <a:t>Скачиваний</a:t>
                      </a:r>
                    </a:p>
                  </a:txBody>
                  <a:tcPr marL="73152" marR="54864" marT="27432" marB="27432" anchor="ctr">
                    <a:solidFill>
                      <a:srgbClr val="E8EF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Segoe UI"/>
                        </a:rPr>
                        <a:t>Монетизация</a:t>
                      </a:r>
                    </a:p>
                  </a:txBody>
                  <a:tcPr marL="73152" marR="54864" marT="27432" marB="27432" anchor="ctr">
                    <a:solidFill>
                      <a:srgbClr val="E8E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График смен (Lili Petrik)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4,5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131 / 33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300 тыс.+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бесплатно, цены не раскрыты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Календарь рабочих смен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4,8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848 / 142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100 тыс.+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разовая покупка Pro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График смен — Simple Shift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4,8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1 400 / 273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90 тыс.+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бесплатно 2 графика, платно 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WorkTime — график смен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3,8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19 / 10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20 тыс.+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бесплатно + неотключаемая реклама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График смен (Шварев Д.)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4,9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97 / 42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9 тыс.+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B2430"/>
                          </a:solidFill>
                          <a:latin typeface="Segoe UI"/>
                        </a:rPr>
                        <a:t>полностью бесплатно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77639"/>
            <a:ext cx="108813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0B57D0"/>
                </a:solidFill>
                <a:latin typeface="Segoe UI"/>
              </a:rPr>
              <a:t>—  Рынок не насыщен. </a:t>
            </a:r>
            <a:r>
              <a:rPr sz="1400">
                <a:solidFill>
                  <a:srgbClr val="1B2430"/>
                </a:solidFill>
                <a:latin typeface="Segoe UI"/>
              </a:rPr>
              <a:t>Лидер — 300 тыс. скачиваний при 11–15 млн потенциальных пользователей.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0B57D0"/>
                </a:solidFill>
                <a:latin typeface="Segoe UI"/>
              </a:rPr>
              <a:t>—  Монополии нет. </a:t>
            </a:r>
            <a:r>
              <a:rPr sz="1400">
                <a:solidFill>
                  <a:srgbClr val="1B2430"/>
                </a:solidFill>
                <a:latin typeface="Segoe UI"/>
              </a:rPr>
              <a:t>Три приложения делят аудиторию сопоставимыми долями.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0B57D0"/>
                </a:solidFill>
                <a:latin typeface="Segoe UI"/>
              </a:rPr>
              <a:t>—  Рейтинг падает из-за релизов. </a:t>
            </a:r>
            <a:r>
              <a:rPr sz="1400">
                <a:solidFill>
                  <a:srgbClr val="1B2430"/>
                </a:solidFill>
                <a:latin typeface="Segoe UI"/>
              </a:rPr>
              <a:t>WorkTime опустился до 3,8 не из-за функций, а из-за сбоев после обновлений.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>
                <a:solidFill>
                  <a:srgbClr val="1B2430"/>
                </a:solidFill>
                <a:latin typeface="Segoe UI"/>
              </a:rPr>
              <a:t>Претензии пользователей — наши возможности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280160" cy="50292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Календарь смен · командный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6422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606040" cy="2148840"/>
          </a:xfrm>
          <a:prstGeom prst="roundRect">
            <a:avLst>
              <a:gd name="adj" fmla="val 7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3619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C62828"/>
                </a:solidFill>
                <a:latin typeface="Segoe UI"/>
              </a:rPr>
              <a:t>Нельзя оплатить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84831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00">
                <a:solidFill>
                  <a:srgbClr val="1B2430"/>
                </a:solidFill>
                <a:latin typeface="Segoe UI"/>
              </a:rPr>
              <a:t>   «с карты Мир оплата не возможна» — 6+ отзывов у лидера (4,8 · 100 тыс.+)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1325880"/>
            <a:ext cx="2606040" cy="2148840"/>
          </a:xfrm>
          <a:prstGeom prst="roundRect">
            <a:avLst>
              <a:gd name="adj" fmla="val 7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79" y="153619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C62828"/>
                </a:solidFill>
                <a:latin typeface="Segoe UI"/>
              </a:rPr>
              <a:t>Белый экран после обновления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084831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00">
                <a:solidFill>
                  <a:srgbClr val="1B2430"/>
                </a:solidFill>
                <a:latin typeface="Segoe UI"/>
              </a:rPr>
              <a:t>   «Тупо белый экран», «Не работает после обновления» — WorkTime, рейтинг 3,8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25880"/>
            <a:ext cx="2606040" cy="2148840"/>
          </a:xfrm>
          <a:prstGeom prst="roundRect">
            <a:avLst>
              <a:gd name="adj" fmla="val 7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53619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C62828"/>
                </a:solidFill>
                <a:latin typeface="Segoe UI"/>
              </a:rPr>
              <a:t>Потеря данных при переустановке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084831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00">
                <a:solidFill>
                  <a:srgbClr val="1B2430"/>
                </a:solidFill>
                <a:latin typeface="Segoe UI"/>
              </a:rPr>
              <a:t>   «расписала все дела на два месяца вперёд &lt;…&gt; всё слетело» — Simple Shift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325880"/>
            <a:ext cx="2606040" cy="2148840"/>
          </a:xfrm>
          <a:prstGeom prst="roundRect">
            <a:avLst>
              <a:gd name="adj" fmla="val 7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53144" y="153619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6B7280"/>
                </a:solidFill>
                <a:latin typeface="Segoe UI"/>
              </a:rPr>
              <a:t>Реклама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2084831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00">
                <a:solidFill>
                  <a:srgbClr val="1B2430"/>
                </a:solidFill>
                <a:latin typeface="Segoe UI"/>
              </a:rPr>
              <a:t>   3 из 5 приложений подают отсутствие рекламы как преимущество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94760"/>
            <a:ext cx="10881360" cy="1051560"/>
          </a:xfrm>
          <a:prstGeom prst="roundRect">
            <a:avLst>
              <a:gd name="adj" fmla="val 9000"/>
            </a:avLst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968496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B57D0"/>
                </a:solidFill>
                <a:latin typeface="Segoe UI"/>
              </a:rPr>
              <a:t>Вывод для продукта: </a:t>
            </a:r>
            <a:r>
              <a:rPr sz="1500">
                <a:solidFill>
                  <a:srgbClr val="1B2430"/>
                </a:solidFill>
                <a:latin typeface="Segoe UI"/>
              </a:rPr>
              <a:t>первый канал распространения — RuStore (оплата работает, комиссия 15 %), приложение без рекламы, базовая версия бесплатная.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0B57D0"/>
                </a:solidFill>
                <a:latin typeface="Segoe UI"/>
              </a:rPr>
              <a:t>—  Позиционирование. </a:t>
            </a:r>
            <a:r>
              <a:rPr sz="1400">
                <a:solidFill>
                  <a:srgbClr val="1B2430"/>
                </a:solidFill>
                <a:latin typeface="Segoe UI"/>
              </a:rPr>
              <a:t>Тот же автоматический расчёт, но платные функции реально можно оплатить из России.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>
                <a:solidFill>
                  <a:srgbClr val="1B2430"/>
                </a:solidFill>
                <a:latin typeface="Segoe UI"/>
              </a:rPr>
              <a:t>Бизнес-модель и монетизация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280160" cy="50292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Календарь смен · командный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6422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520440" cy="1371600"/>
          </a:xfrm>
          <a:prstGeom prst="roundRect">
            <a:avLst>
              <a:gd name="adj" fmla="val 9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08760"/>
            <a:ext cx="311810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B57D0"/>
                </a:solidFill>
                <a:latin typeface="Segoe UI"/>
              </a:rPr>
              <a:t>149 ₽ / 990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67128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Segoe UI"/>
              </a:rPr>
              <a:t>подписка в месяц или год</a:t>
            </a:r>
          </a:p>
          <a:p>
            <a:r>
              <a:rPr sz="1200">
                <a:solidFill>
                  <a:srgbClr val="6B7280"/>
                </a:solidFill>
                <a:latin typeface="Segoe UI"/>
              </a:rPr>
              <a:t>(годовая выгоднее в 1,8 раза)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1371600"/>
          </a:xfrm>
          <a:prstGeom prst="roundRect">
            <a:avLst>
              <a:gd name="adj" fmla="val 9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508760"/>
            <a:ext cx="311810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B57D0"/>
                </a:solidFill>
                <a:latin typeface="Segoe UI"/>
              </a:rPr>
              <a:t>292 100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67128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Segoe UI"/>
              </a:rPr>
              <a:t>выручка за первый год</a:t>
            </a:r>
          </a:p>
          <a:p>
            <a:r>
              <a:rPr sz="1200">
                <a:solidFill>
                  <a:srgbClr val="6B7280"/>
                </a:solidFill>
                <a:latin typeface="Segoe UI"/>
              </a:rPr>
              <a:t>после комиссии магазина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1371600"/>
          </a:xfrm>
          <a:prstGeom prst="roundRect">
            <a:avLst>
              <a:gd name="adj" fmla="val 9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508760"/>
            <a:ext cx="311810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B57D0"/>
                </a:solidFill>
                <a:latin typeface="Segoe UI"/>
              </a:rPr>
              <a:t>405 500 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167128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Segoe UI"/>
              </a:rPr>
              <a:t>бюджет разработки</a:t>
            </a:r>
          </a:p>
          <a:p>
            <a:r>
              <a:rPr sz="1200">
                <a:solidFill>
                  <a:srgbClr val="6B7280"/>
                </a:solidFill>
                <a:latin typeface="Segoe UI"/>
              </a:rPr>
              <a:t>и запуска проекта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71800"/>
            <a:ext cx="108813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0B57D0"/>
                </a:solidFill>
                <a:latin typeface="Segoe UI"/>
              </a:rPr>
              <a:t>—  Бесплатно. </a:t>
            </a:r>
            <a:r>
              <a:rPr sz="1400">
                <a:solidFill>
                  <a:srgbClr val="1B2430"/>
                </a:solidFill>
                <a:latin typeface="Segoe UI"/>
              </a:rPr>
              <a:t>Один график, расчёт цикла, ручная правка дня, цветовая индикация.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0B57D0"/>
                </a:solidFill>
                <a:latin typeface="Segoe UI"/>
              </a:rPr>
              <a:t>—  По подписке. </a:t>
            </a:r>
            <a:r>
              <a:rPr sz="1400">
                <a:solidFill>
                  <a:srgbClr val="1B2430"/>
                </a:solidFill>
                <a:latin typeface="Segoe UI"/>
              </a:rPr>
              <a:t>Несколько графиков, виджет, напоминания, экспорт, синхронизация.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0B57D0"/>
                </a:solidFill>
                <a:latin typeface="Segoe UI"/>
              </a:rPr>
              <a:t>—  Расчёт выручки. </a:t>
            </a:r>
            <a:r>
              <a:rPr sz="1400">
                <a:solidFill>
                  <a:srgbClr val="1B2430"/>
                </a:solidFill>
                <a:latin typeface="Segoe UI"/>
              </a:rPr>
              <a:t>50 000 установок → 15 000 активных → 2,5 % платящих = 375 человек → 343 700 ₽ до комиссии.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0B57D0"/>
                </a:solidFill>
                <a:latin typeface="Segoe UI"/>
              </a:rPr>
              <a:t>—  Окупаемость. </a:t>
            </a:r>
            <a:r>
              <a:rPr sz="1400">
                <a:solidFill>
                  <a:srgbClr val="1B2430"/>
                </a:solidFill>
                <a:latin typeface="Segoe UI"/>
              </a:rPr>
              <a:t>Базовый сценарий — около 19 месяцев, оптимистичный — около 4.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0B57D0"/>
                </a:solidFill>
                <a:latin typeface="Segoe UI"/>
              </a:rPr>
              <a:t>—  Ключевой рычаг. </a:t>
            </a:r>
            <a:r>
              <a:rPr sz="1400">
                <a:solidFill>
                  <a:srgbClr val="1B2430"/>
                </a:solidFill>
                <a:latin typeface="Segoe UI"/>
              </a:rPr>
              <a:t>Не цена подписки, а доля платящих: рост с 2,5 % до 4 % даёт больше, чем подорожание.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>
                <a:solidFill>
                  <a:srgbClr val="1B2430"/>
                </a:solidFill>
                <a:latin typeface="Segoe UI"/>
              </a:rPr>
              <a:t>Продукт: что уже работает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280160" cy="50292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Календарь смен · командный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6422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766560" cy="2928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 dirty="0">
                <a:solidFill>
                  <a:srgbClr val="0B57D0"/>
                </a:solidFill>
                <a:latin typeface="Segoe UI"/>
              </a:rPr>
              <a:t>—  </a:t>
            </a:r>
            <a:r>
              <a:rPr sz="1400" b="1" dirty="0" err="1">
                <a:solidFill>
                  <a:srgbClr val="0B57D0"/>
                </a:solidFill>
                <a:latin typeface="Segoe UI"/>
              </a:rPr>
              <a:t>Настройка</a:t>
            </a:r>
            <a:r>
              <a:rPr sz="1400" b="1" dirty="0">
                <a:solidFill>
                  <a:srgbClr val="0B57D0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0B57D0"/>
                </a:solidFill>
                <a:latin typeface="Segoe UI"/>
              </a:rPr>
              <a:t>графика</a:t>
            </a:r>
            <a:r>
              <a:rPr sz="1400" b="1" dirty="0">
                <a:solidFill>
                  <a:srgbClr val="0B57D0"/>
                </a:solidFill>
                <a:latin typeface="Segoe UI"/>
              </a:rPr>
              <a:t>.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Пользователь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сам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вводит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число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рабочих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и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выходных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дней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 dirty="0">
                <a:solidFill>
                  <a:srgbClr val="0B57D0"/>
                </a:solidFill>
                <a:latin typeface="Segoe UI"/>
              </a:rPr>
              <a:t>—  </a:t>
            </a:r>
            <a:r>
              <a:rPr sz="1400" b="1" dirty="0" err="1">
                <a:solidFill>
                  <a:srgbClr val="0B57D0"/>
                </a:solidFill>
                <a:latin typeface="Segoe UI"/>
              </a:rPr>
              <a:t>Автоматический</a:t>
            </a:r>
            <a:r>
              <a:rPr sz="1400" b="1" dirty="0">
                <a:solidFill>
                  <a:srgbClr val="0B57D0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0B57D0"/>
                </a:solidFill>
                <a:latin typeface="Segoe UI"/>
              </a:rPr>
              <a:t>расчёт</a:t>
            </a:r>
            <a:r>
              <a:rPr sz="1400" b="1" dirty="0">
                <a:solidFill>
                  <a:srgbClr val="0B57D0"/>
                </a:solidFill>
                <a:latin typeface="Segoe UI"/>
              </a:rPr>
              <a:t>.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Смены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считаются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на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любой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месяц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включая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переход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между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годами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 dirty="0">
                <a:solidFill>
                  <a:srgbClr val="0B57D0"/>
                </a:solidFill>
                <a:latin typeface="Segoe UI"/>
              </a:rPr>
              <a:t>—  </a:t>
            </a:r>
            <a:r>
              <a:rPr sz="1400" b="1" dirty="0" err="1">
                <a:solidFill>
                  <a:srgbClr val="0B57D0"/>
                </a:solidFill>
                <a:latin typeface="Segoe UI"/>
              </a:rPr>
              <a:t>Листание</a:t>
            </a:r>
            <a:r>
              <a:rPr sz="1400" b="1" dirty="0">
                <a:solidFill>
                  <a:srgbClr val="0B57D0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0B57D0"/>
                </a:solidFill>
                <a:latin typeface="Segoe UI"/>
              </a:rPr>
              <a:t>месяцев</a:t>
            </a:r>
            <a:r>
              <a:rPr sz="1400" b="1" dirty="0">
                <a:solidFill>
                  <a:srgbClr val="0B57D0"/>
                </a:solidFill>
                <a:latin typeface="Segoe UI"/>
              </a:rPr>
              <a:t>.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Кнопки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«&lt;&lt;» и «&gt;&gt;» с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мгновенным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пересчётом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сетки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 dirty="0">
                <a:solidFill>
                  <a:srgbClr val="0B57D0"/>
                </a:solidFill>
                <a:latin typeface="Segoe UI"/>
              </a:rPr>
              <a:t>—  </a:t>
            </a:r>
            <a:r>
              <a:rPr sz="1400" b="1" dirty="0" err="1">
                <a:solidFill>
                  <a:srgbClr val="0B57D0"/>
                </a:solidFill>
                <a:latin typeface="Segoe UI"/>
              </a:rPr>
              <a:t>Ручная</a:t>
            </a:r>
            <a:r>
              <a:rPr sz="1400" b="1" dirty="0">
                <a:solidFill>
                  <a:srgbClr val="0B57D0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0B57D0"/>
                </a:solidFill>
                <a:latin typeface="Segoe UI"/>
              </a:rPr>
              <a:t>правка</a:t>
            </a:r>
            <a:r>
              <a:rPr sz="1400" b="1" dirty="0">
                <a:solidFill>
                  <a:srgbClr val="0B57D0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0B57D0"/>
                </a:solidFill>
                <a:latin typeface="Segoe UI"/>
              </a:rPr>
              <a:t>дня</a:t>
            </a:r>
            <a:r>
              <a:rPr sz="1400" b="1" dirty="0">
                <a:solidFill>
                  <a:srgbClr val="0B57D0"/>
                </a:solidFill>
                <a:latin typeface="Segoe UI"/>
              </a:rPr>
              <a:t>.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Диалог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«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Настройка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дня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»: «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Рабочий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», «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Выходной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», «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Сбросить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».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 dirty="0">
                <a:solidFill>
                  <a:srgbClr val="0B57D0"/>
                </a:solidFill>
                <a:latin typeface="Segoe UI"/>
              </a:rPr>
              <a:t>—  </a:t>
            </a:r>
            <a:r>
              <a:rPr sz="1400" b="1" dirty="0" err="1">
                <a:solidFill>
                  <a:srgbClr val="0B57D0"/>
                </a:solidFill>
                <a:latin typeface="Segoe UI"/>
              </a:rPr>
              <a:t>Приоритет</a:t>
            </a:r>
            <a:r>
              <a:rPr sz="1400" b="1" dirty="0">
                <a:solidFill>
                  <a:srgbClr val="0B57D0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0B57D0"/>
                </a:solidFill>
                <a:latin typeface="Segoe UI"/>
              </a:rPr>
              <a:t>правки</a:t>
            </a:r>
            <a:r>
              <a:rPr sz="1400" b="1" dirty="0">
                <a:solidFill>
                  <a:srgbClr val="0B57D0"/>
                </a:solidFill>
                <a:latin typeface="Segoe UI"/>
              </a:rPr>
              <a:t>.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Решение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пользователя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важнее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расчёта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по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циклу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 dirty="0">
                <a:solidFill>
                  <a:srgbClr val="0B57D0"/>
                </a:solidFill>
                <a:latin typeface="Segoe UI"/>
              </a:rPr>
              <a:t>—  </a:t>
            </a:r>
            <a:r>
              <a:rPr sz="1400" b="1" dirty="0" err="1">
                <a:solidFill>
                  <a:srgbClr val="0B57D0"/>
                </a:solidFill>
                <a:latin typeface="Segoe UI"/>
              </a:rPr>
              <a:t>Цветовая</a:t>
            </a:r>
            <a:r>
              <a:rPr sz="1400" b="1" dirty="0">
                <a:solidFill>
                  <a:srgbClr val="0B57D0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0B57D0"/>
                </a:solidFill>
                <a:latin typeface="Segoe UI"/>
              </a:rPr>
              <a:t>индикация</a:t>
            </a:r>
            <a:r>
              <a:rPr sz="1400" b="1" dirty="0">
                <a:solidFill>
                  <a:srgbClr val="0B57D0"/>
                </a:solidFill>
                <a:latin typeface="Segoe UI"/>
              </a:rPr>
              <a:t>.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Синий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—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рабочий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серый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—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выходной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зелёный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и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красный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—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правка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B2430"/>
                </a:solidFill>
                <a:latin typeface="Segoe UI"/>
              </a:rPr>
              <a:t>вручную</a:t>
            </a:r>
            <a:r>
              <a:rPr sz="1400" dirty="0">
                <a:solidFill>
                  <a:srgbClr val="1B2430"/>
                </a:solidFill>
                <a:latin typeface="Segoe UI"/>
              </a:rPr>
              <a:t>.</a:t>
            </a:r>
          </a:p>
        </p:txBody>
      </p:sp>
      <p:pic>
        <p:nvPicPr>
          <p:cNvPr id="8" name="Picture 7" descr="real_01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325880"/>
            <a:ext cx="1691640" cy="3721608"/>
          </a:xfrm>
          <a:prstGeom prst="rect">
            <a:avLst/>
          </a:prstGeom>
        </p:spPr>
      </p:pic>
      <p:pic>
        <p:nvPicPr>
          <p:cNvPr id="9" name="Picture 8" descr="real_02_dia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1737360"/>
            <a:ext cx="1783080" cy="125028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>
                <a:solidFill>
                  <a:srgbClr val="1B2430"/>
                </a:solidFill>
                <a:latin typeface="Segoe UI"/>
              </a:rPr>
              <a:t>Демонстрация работы приложения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280160" cy="50292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0" y="502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>
                <a:solidFill>
                  <a:srgbClr val="6B7280"/>
                </a:solidFill>
                <a:latin typeface="Segoe UI"/>
              </a:rPr>
              <a:t>скриншоты реального запуска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Календарь смен · командный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6422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404" y="5059481"/>
            <a:ext cx="285292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dirty="0" err="1">
                <a:solidFill>
                  <a:srgbClr val="6B7280"/>
                </a:solidFill>
                <a:latin typeface="Segoe UI"/>
              </a:rPr>
              <a:t>Настройки</a:t>
            </a:r>
            <a:r>
              <a:rPr sz="1100" dirty="0">
                <a:solidFill>
                  <a:srgbClr val="6B7280"/>
                </a:solidFill>
                <a:latin typeface="Segoe UI"/>
              </a:rPr>
              <a:t> и </a:t>
            </a:r>
            <a:r>
              <a:rPr sz="1100" dirty="0" err="1">
                <a:solidFill>
                  <a:srgbClr val="6B7280"/>
                </a:solidFill>
                <a:latin typeface="Segoe UI"/>
              </a:rPr>
              <a:t>правка</a:t>
            </a:r>
            <a:r>
              <a:rPr sz="1100" dirty="0">
                <a:solidFill>
                  <a:srgbClr val="6B7280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Segoe UI"/>
              </a:rPr>
              <a:t>дней</a:t>
            </a:r>
            <a:endParaRPr sz="1100" dirty="0">
              <a:solidFill>
                <a:srgbClr val="6B7280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69040" y="5029199"/>
            <a:ext cx="285292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dirty="0" err="1">
                <a:solidFill>
                  <a:srgbClr val="6B7280"/>
                </a:solidFill>
                <a:latin typeface="Segoe UI"/>
              </a:rPr>
              <a:t>Переход</a:t>
            </a:r>
            <a:r>
              <a:rPr sz="1100" dirty="0">
                <a:solidFill>
                  <a:srgbClr val="6B7280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Segoe UI"/>
              </a:rPr>
              <a:t>на</a:t>
            </a:r>
            <a:r>
              <a:rPr sz="1100" dirty="0">
                <a:solidFill>
                  <a:srgbClr val="6B7280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Segoe UI"/>
              </a:rPr>
              <a:t>ноябрь</a:t>
            </a:r>
            <a:r>
              <a:rPr sz="1100" dirty="0">
                <a:solidFill>
                  <a:srgbClr val="6B7280"/>
                </a:solidFill>
                <a:latin typeface="Segoe UI"/>
              </a:rPr>
              <a:t> 2026</a:t>
            </a:r>
          </a:p>
        </p:txBody>
      </p:sp>
      <p:pic>
        <p:nvPicPr>
          <p:cNvPr id="13" name="Picture 12" descr="real_02_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377" y="1454697"/>
            <a:ext cx="2103120" cy="14746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45473" y="3154680"/>
            <a:ext cx="285292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dirty="0" err="1">
                <a:solidFill>
                  <a:srgbClr val="6B7280"/>
                </a:solidFill>
                <a:latin typeface="Segoe UI"/>
              </a:rPr>
              <a:t>Диалог</a:t>
            </a:r>
            <a:r>
              <a:rPr sz="1100" dirty="0">
                <a:solidFill>
                  <a:srgbClr val="6B7280"/>
                </a:solidFill>
                <a:latin typeface="Segoe UI"/>
              </a:rPr>
              <a:t> «</a:t>
            </a:r>
            <a:r>
              <a:rPr sz="1100" dirty="0" err="1">
                <a:solidFill>
                  <a:srgbClr val="6B7280"/>
                </a:solidFill>
                <a:latin typeface="Segoe UI"/>
              </a:rPr>
              <a:t>Настройка</a:t>
            </a:r>
            <a:r>
              <a:rPr sz="1100" dirty="0">
                <a:solidFill>
                  <a:srgbClr val="6B7280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Segoe UI"/>
              </a:rPr>
              <a:t>дня</a:t>
            </a:r>
            <a:r>
              <a:rPr sz="1100" dirty="0">
                <a:solidFill>
                  <a:srgbClr val="6B7280"/>
                </a:solidFill>
                <a:latin typeface="Segoe UI"/>
              </a:rPr>
              <a:t>»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D5F148E-B044-8AEE-7731-68D426FAC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960" y="1309670"/>
            <a:ext cx="1863816" cy="368372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50B2239-1137-2807-062A-DEF321D0B4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3944" y="1300358"/>
            <a:ext cx="2103120" cy="368372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>
                <a:solidFill>
                  <a:srgbClr val="1B2430"/>
                </a:solidFill>
                <a:latin typeface="Segoe UI"/>
              </a:rPr>
              <a:t>Вклад: дизайн UI/UX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280160" cy="50292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Календарь смен · командный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6422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309360" cy="38075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опирался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3: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готовая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компонентов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кнопок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полей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диалогов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взял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основу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Сетка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календаря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колонок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цветовая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индикация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смен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системном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календаре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Учёл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отзывов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установить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2/2» →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двух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полей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вместо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меню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решений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Цвет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вместо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текста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дня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читается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мгновенно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Крупные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клетки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попадание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пальцем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Состояния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элементов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Кнопка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обычная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нажатая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неактивная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обычное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фокусе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ошибкой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осталось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Иконки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внутренних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экранов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тёмная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оформления</a:t>
            </a:r>
            <a:r>
              <a:rPr sz="1300" dirty="0">
                <a:latin typeface="Segoe UI"/>
              </a:rPr>
              <a:t>.</a:t>
            </a:r>
          </a:p>
        </p:txBody>
      </p:sp>
      <p:pic>
        <p:nvPicPr>
          <p:cNvPr id="8" name="Picture 7" descr="ui_k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1" y="1325880"/>
            <a:ext cx="3566160" cy="4239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78040" y="5632704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Segoe UI"/>
              </a:rPr>
              <a:t>UI-кит: палитра, шрифты, компоненты и состояния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>
                <a:solidFill>
                  <a:srgbClr val="1B2430"/>
                </a:solidFill>
                <a:latin typeface="Segoe UI"/>
              </a:rPr>
              <a:t>Вклад: разработка — стек и архитектура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280160" cy="50292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dirty="0" err="1">
                <a:solidFill>
                  <a:srgbClr val="6B7280"/>
                </a:solidFill>
              </a:rPr>
              <a:t>Календарь</a:t>
            </a:r>
            <a:r>
              <a:rPr sz="1000" dirty="0">
                <a:solidFill>
                  <a:srgbClr val="6B7280"/>
                </a:solidFill>
              </a:rPr>
              <a:t> </a:t>
            </a:r>
            <a:r>
              <a:rPr sz="1000" dirty="0" err="1">
                <a:solidFill>
                  <a:srgbClr val="6B7280"/>
                </a:solidFill>
              </a:rPr>
              <a:t>смен</a:t>
            </a:r>
            <a:r>
              <a:rPr sz="1000" dirty="0">
                <a:solidFill>
                  <a:srgbClr val="6B7280"/>
                </a:solidFill>
              </a:rPr>
              <a:t> · </a:t>
            </a:r>
            <a:r>
              <a:rPr sz="1000" dirty="0" err="1">
                <a:solidFill>
                  <a:srgbClr val="6B7280"/>
                </a:solidFill>
              </a:rPr>
              <a:t>командный</a:t>
            </a:r>
            <a:r>
              <a:rPr sz="1000" dirty="0">
                <a:solidFill>
                  <a:srgbClr val="6B7280"/>
                </a:solidFill>
              </a:rPr>
              <a:t> </a:t>
            </a:r>
            <a:r>
              <a:rPr sz="1000" dirty="0" err="1">
                <a:solidFill>
                  <a:srgbClr val="6B7280"/>
                </a:solidFill>
              </a:rPr>
              <a:t>проект</a:t>
            </a:r>
            <a:endParaRPr sz="1000" dirty="0">
              <a:solidFill>
                <a:srgbClr val="6B728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36422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9539"/>
            <a:ext cx="10881360" cy="3099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lang="ru-RU" sz="1600" b="1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чем пишем: </a:t>
            </a: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lang="ru-RU"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Минимальная версия </a:t>
            </a: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 8.0, </a:t>
            </a:r>
            <a:r>
              <a:rPr lang="ru-RU"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сборка через </a:t>
            </a: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устроено: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Экран рисуется через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Вся математика по расчету смен вынесена отдельно.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работает: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Мы просто описываем, как должен выглядеть календарь при текущих данных. Когда данные меняются,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сам перерисовывает экран.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Где хранятся данные: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Текущий месяц и ручные правки хранятся в состоянии (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Когда пользователь что-то меняет, создается новая версия данных, и экран обновляется.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Ручные правки: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Если пользователь вручную поменял день, это сохраняется в виде словаря (дата → рабочий или выходной). При этом старый словарь не меняется, а создается новый.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endParaRPr sz="1600" b="1" dirty="0">
              <a:solidFill>
                <a:srgbClr val="1B24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B57D0"/>
                </a:solidFill>
                <a:latin typeface="Segoe UI"/>
              </a:rPr>
              <a:t>Формула расчёта: </a:t>
            </a:r>
            <a:r>
              <a:rPr sz="1400">
                <a:solidFill>
                  <a:srgbClr val="1B2430"/>
                </a:solidFill>
                <a:latin typeface="Segoe UI"/>
              </a:rPr>
              <a:t>день рабочий, если (дней от начала графика) % (рабочих + выходных) &lt; рабочих. Ручная правка дня важнее расчёта.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9176D93-5A45-8B0C-922B-012B1E7CB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1060"/>
            <a:ext cx="65" cy="482119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 dirty="0" err="1">
                <a:solidFill>
                  <a:srgbClr val="1B2430"/>
                </a:solidFill>
                <a:latin typeface="Segoe UI"/>
              </a:rPr>
              <a:t>Вклад</a:t>
            </a:r>
            <a:r>
              <a:rPr sz="2900" b="1" dirty="0">
                <a:solidFill>
                  <a:srgbClr val="1B2430"/>
                </a:solidFill>
                <a:latin typeface="Segoe UI"/>
              </a:rPr>
              <a:t>: </a:t>
            </a:r>
            <a:r>
              <a:rPr sz="2900" b="1" dirty="0" err="1">
                <a:solidFill>
                  <a:srgbClr val="1B2430"/>
                </a:solidFill>
                <a:latin typeface="Segoe UI"/>
              </a:rPr>
              <a:t>разработка</a:t>
            </a:r>
            <a:r>
              <a:rPr sz="2900" b="1" dirty="0">
                <a:solidFill>
                  <a:srgbClr val="1B2430"/>
                </a:solidFill>
                <a:latin typeface="Segoe UI"/>
              </a:rPr>
              <a:t> — </a:t>
            </a:r>
            <a:r>
              <a:rPr sz="2900" b="1" dirty="0" err="1">
                <a:solidFill>
                  <a:srgbClr val="1B2430"/>
                </a:solidFill>
                <a:latin typeface="Segoe UI"/>
              </a:rPr>
              <a:t>оптимизация</a:t>
            </a:r>
            <a:r>
              <a:rPr sz="2900" b="1" dirty="0">
                <a:solidFill>
                  <a:srgbClr val="1B2430"/>
                </a:solidFill>
                <a:latin typeface="Segoe UI"/>
              </a:rPr>
              <a:t> </a:t>
            </a:r>
            <a:r>
              <a:rPr sz="2900" b="1" dirty="0" err="1">
                <a:solidFill>
                  <a:srgbClr val="1B2430"/>
                </a:solidFill>
                <a:latin typeface="Segoe UI"/>
              </a:rPr>
              <a:t>кода</a:t>
            </a:r>
            <a:endParaRPr sz="2900" b="1" dirty="0">
              <a:solidFill>
                <a:srgbClr val="1B2430"/>
              </a:solidFill>
              <a:latin typeface="Segoe U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280160" cy="50292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Календарь смен · командный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6422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2E7D32"/>
                </a:solidFill>
                <a:latin typeface="Segoe UI"/>
              </a:rPr>
              <a:t>Быстрее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517904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1B2430"/>
                </a:solidFill>
                <a:latin typeface="Segoe UI"/>
              </a:rPr>
              <a:t>Перебор дней от начала графика заменён на разницу дат: вместо шага по каждому дню — одна операция.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50591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2E7D32"/>
                </a:solidFill>
                <a:latin typeface="Segoe UI"/>
              </a:rPr>
              <a:t>Короче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96896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1B2430"/>
                </a:solidFill>
                <a:latin typeface="Segoe UI"/>
              </a:rPr>
              <a:t>Объём одного файла сокращён примерно вдвое — примерно с 310 до 150 строк, без потери функций.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9584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63931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2E7D32"/>
                </a:solidFill>
                <a:latin typeface="Segoe UI"/>
              </a:rPr>
              <a:t>Надёжнее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675887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1B2430"/>
                </a:solidFill>
                <a:latin typeface="Segoe UI"/>
              </a:rPr>
              <a:t>Закрыты два падения: ввод букв в поле (теперь toIntOrNull) и нулевая длина цикла (защита от деления на ноль).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08576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71830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2E7D32"/>
                </a:solidFill>
                <a:latin typeface="Segoe UI"/>
              </a:rPr>
              <a:t>Аккуратнее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754880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1B2430"/>
                </a:solidFill>
                <a:latin typeface="Segoe UI"/>
              </a:rPr>
              <a:t>Убраны неиспользуемые импорты — проверено компилятором, а не на глаз.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7900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Segoe UI"/>
              </a:rPr>
              <a:t>Исправлено попутно: заголовок больше не налезает на строку состояния. В планах — сохранение правок между запусками приложения.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>
                <a:solidFill>
                  <a:srgbClr val="1B2430"/>
                </a:solidFill>
                <a:latin typeface="Segoe UI"/>
              </a:rPr>
              <a:t>Вклад: аналитика и отчёт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280160" cy="50292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0" y="502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>
                <a:solidFill>
                  <a:srgbClr val="6B7280"/>
                </a:solidFill>
                <a:latin typeface="Segoe UI"/>
              </a:rPr>
              <a:t>[ФАМИЛИЯ И.О.]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Календарь смен · командный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6422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257800" cy="265176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B57D0"/>
                </a:solidFill>
                <a:latin typeface="Segoe UI"/>
              </a:rPr>
              <a:t>Какие данные анализировал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>
                <a:solidFill>
                  <a:srgbClr val="1B2430"/>
                </a:solidFill>
                <a:latin typeface="Segoe UI"/>
              </a:rPr>
              <a:t>•  5 приложений в RuStore: рейтинг, отзывы, монетизация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>
                <a:solidFill>
                  <a:srgbClr val="1B2430"/>
                </a:solidFill>
                <a:latin typeface="Segoe UI"/>
              </a:rPr>
              <a:t>•  Опрос 7 500 человек о режиме работы (2025)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>
                <a:solidFill>
                  <a:srgbClr val="1B2430"/>
                </a:solidFill>
                <a:latin typeface="Segoe UI"/>
              </a:rPr>
              <a:t>•  Комиссии магазинов: RuStore 15 %, Google Play, App Store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>
                <a:solidFill>
                  <a:srgbClr val="1B2430"/>
                </a:solidFill>
                <a:latin typeface="Segoe UI"/>
              </a:rPr>
              <a:t>•  152-ФЗ и статья 103 ТК РФ о сменной работе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57800" cy="265176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53619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B57D0"/>
                </a:solidFill>
                <a:latin typeface="Segoe UI"/>
              </a:rPr>
              <a:t>Как оценивал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>
                <a:solidFill>
                  <a:srgbClr val="1B2430"/>
                </a:solidFill>
                <a:latin typeface="Segoe UI"/>
              </a:rPr>
              <a:t>•  Формула: активные × доля платящих × средний чек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>
                <a:solidFill>
                  <a:srgbClr val="1B2430"/>
                </a:solidFill>
                <a:latin typeface="Segoe UI"/>
              </a:rPr>
              <a:t>•  Три сценария: пессимистичный, базовый, оптимистичный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>
                <a:solidFill>
                  <a:srgbClr val="1B2430"/>
                </a:solidFill>
                <a:latin typeface="Segoe UI"/>
              </a:rPr>
              <a:t>•  Допущения названы: база 70–75 млн занятых, чек 917 ₽/год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>
                <a:solidFill>
                  <a:srgbClr val="1B2430"/>
                </a:solidFill>
                <a:latin typeface="Segoe UI"/>
              </a:rPr>
              <a:t>•  Надёжность каждой цифры указана прямо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10881360" cy="1600200"/>
          </a:xfrm>
          <a:prstGeom prst="roundRect">
            <a:avLst>
              <a:gd name="adj" fmla="val 7000"/>
            </a:avLst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0B57D0"/>
                </a:solidFill>
                <a:latin typeface="Segoe UI"/>
              </a:rPr>
              <a:t>Что дал анализ для продукта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—  Ниша. </a:t>
            </a:r>
            <a:r>
              <a:rPr sz="1200">
                <a:solidFill>
                  <a:srgbClr val="1B2430"/>
                </a:solidFill>
                <a:latin typeface="Segoe UI"/>
              </a:rPr>
              <a:t>Лидер занимает меньше 3 % аудитории — место для нового продукта есть.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—  Ключевая возможность. </a:t>
            </a:r>
            <a:r>
              <a:rPr sz="1200">
                <a:solidFill>
                  <a:srgbClr val="1B2430"/>
                </a:solidFill>
                <a:latin typeface="Segoe UI"/>
              </a:rPr>
              <a:t>Оплата из России не работает у лидера — RuStore решает это.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—  Риски и план. </a:t>
            </a:r>
            <a:r>
              <a:rPr sz="1200">
                <a:solidFill>
                  <a:srgbClr val="1B2430"/>
                </a:solidFill>
                <a:latin typeface="Segoe UI"/>
              </a:rPr>
              <a:t>5 рисков с мерами: уход разработчика, сроки, ошибки в расчёте, спрос, потеря кода.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9184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>
                <a:solidFill>
                  <a:srgbClr val="1B2430"/>
                </a:solidFill>
                <a:latin typeface="Segoe UI"/>
              </a:rPr>
              <a:t>Итоги и планы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280160" cy="50292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6B7280"/>
                </a:solidFill>
              </a:rPr>
              <a:t>Календарь смен · командный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6422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1341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 dirty="0">
                <a:solidFill>
                  <a:srgbClr val="0B57D0"/>
                </a:solidFill>
                <a:latin typeface="Segoe UI"/>
              </a:rPr>
              <a:t>—  </a:t>
            </a:r>
            <a:r>
              <a:rPr sz="1500" b="1" dirty="0" err="1">
                <a:solidFill>
                  <a:srgbClr val="0B57D0"/>
                </a:solidFill>
                <a:latin typeface="Segoe UI"/>
              </a:rPr>
              <a:t>Гипотеза</a:t>
            </a:r>
            <a:r>
              <a:rPr sz="1500" b="1" dirty="0">
                <a:solidFill>
                  <a:srgbClr val="0B57D0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0B57D0"/>
                </a:solidFill>
                <a:latin typeface="Segoe UI"/>
              </a:rPr>
              <a:t>подтверждена</a:t>
            </a:r>
            <a:r>
              <a:rPr sz="1500" b="1" dirty="0">
                <a:solidFill>
                  <a:srgbClr val="0B57D0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0B57D0"/>
                </a:solidFill>
                <a:latin typeface="Segoe UI"/>
              </a:rPr>
              <a:t>частично</a:t>
            </a:r>
            <a:r>
              <a:rPr sz="1500" b="1" dirty="0">
                <a:solidFill>
                  <a:srgbClr val="0B57D0"/>
                </a:solidFill>
                <a:latin typeface="Segoe UI"/>
              </a:rPr>
              <a:t>.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Расчёт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смен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работает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и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проверен</a:t>
            </a:r>
            <a:endParaRPr lang="en-US" sz="1500" dirty="0">
              <a:solidFill>
                <a:srgbClr val="1B2430"/>
              </a:solidFill>
              <a:latin typeface="Segoe UI"/>
            </a:endParaRP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 dirty="0">
                <a:solidFill>
                  <a:srgbClr val="0B57D0"/>
                </a:solidFill>
                <a:latin typeface="Segoe UI"/>
              </a:rPr>
              <a:t>—  </a:t>
            </a:r>
            <a:r>
              <a:rPr sz="1500" b="1" dirty="0" err="1">
                <a:solidFill>
                  <a:srgbClr val="0B57D0"/>
                </a:solidFill>
                <a:latin typeface="Segoe UI"/>
              </a:rPr>
              <a:t>Условие</a:t>
            </a:r>
            <a:r>
              <a:rPr sz="1500" b="1" dirty="0">
                <a:solidFill>
                  <a:srgbClr val="0B57D0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0B57D0"/>
                </a:solidFill>
                <a:latin typeface="Segoe UI"/>
              </a:rPr>
              <a:t>развития</a:t>
            </a:r>
            <a:r>
              <a:rPr sz="1500" b="1" dirty="0">
                <a:solidFill>
                  <a:srgbClr val="0B57D0"/>
                </a:solidFill>
                <a:latin typeface="Segoe UI"/>
              </a:rPr>
              <a:t>.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Сначала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бесплатная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публикация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в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RuStore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отзывы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и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метрики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—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потом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подписка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 dirty="0">
                <a:solidFill>
                  <a:srgbClr val="0B57D0"/>
                </a:solidFill>
                <a:latin typeface="Segoe UI"/>
              </a:rPr>
              <a:t>—  </a:t>
            </a:r>
            <a:r>
              <a:rPr sz="1500" b="1" dirty="0" err="1">
                <a:solidFill>
                  <a:srgbClr val="0B57D0"/>
                </a:solidFill>
                <a:latin typeface="Segoe UI"/>
              </a:rPr>
              <a:t>Что</a:t>
            </a:r>
            <a:r>
              <a:rPr sz="1500" b="1" dirty="0">
                <a:solidFill>
                  <a:srgbClr val="0B57D0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0B57D0"/>
                </a:solidFill>
                <a:latin typeface="Segoe UI"/>
              </a:rPr>
              <a:t>изменить</a:t>
            </a:r>
            <a:r>
              <a:rPr sz="1500" b="1" dirty="0">
                <a:solidFill>
                  <a:srgbClr val="0B57D0"/>
                </a:solidFill>
                <a:latin typeface="Segoe UI"/>
              </a:rPr>
              <a:t> в </a:t>
            </a:r>
            <a:r>
              <a:rPr sz="1500" b="1" dirty="0" err="1">
                <a:solidFill>
                  <a:srgbClr val="0B57D0"/>
                </a:solidFill>
                <a:latin typeface="Segoe UI"/>
              </a:rPr>
              <a:t>модели</a:t>
            </a:r>
            <a:r>
              <a:rPr sz="1500" b="1" dirty="0">
                <a:solidFill>
                  <a:srgbClr val="0B57D0"/>
                </a:solidFill>
                <a:latin typeface="Segoe UI"/>
              </a:rPr>
              <a:t>.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Ценность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подписки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строить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не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на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расчёте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, а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на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синхронизации</a:t>
            </a:r>
            <a:r>
              <a:rPr lang="ru-RU" sz="1500" dirty="0">
                <a:solidFill>
                  <a:srgbClr val="1B2430"/>
                </a:solidFill>
                <a:latin typeface="Segoe UI"/>
              </a:rPr>
              <a:t>, виджеты и напоминания</a:t>
            </a:r>
            <a:endParaRPr lang="en-US" sz="1500" dirty="0">
              <a:solidFill>
                <a:srgbClr val="1B2430"/>
              </a:solidFill>
              <a:latin typeface="Segoe UI"/>
            </a:endParaRP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1" dirty="0">
                <a:solidFill>
                  <a:srgbClr val="0B57D0"/>
                </a:solidFill>
                <a:latin typeface="Segoe UI"/>
              </a:rPr>
              <a:t>—  </a:t>
            </a:r>
            <a:r>
              <a:rPr sz="1500" b="1" dirty="0" err="1">
                <a:solidFill>
                  <a:srgbClr val="0B57D0"/>
                </a:solidFill>
                <a:latin typeface="Segoe UI"/>
              </a:rPr>
              <a:t>Ближайшие</a:t>
            </a:r>
            <a:r>
              <a:rPr sz="1500" b="1" dirty="0">
                <a:solidFill>
                  <a:srgbClr val="0B57D0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0B57D0"/>
                </a:solidFill>
                <a:latin typeface="Segoe UI"/>
              </a:rPr>
              <a:t>шаги</a:t>
            </a:r>
            <a:r>
              <a:rPr sz="1500" b="1" dirty="0">
                <a:solidFill>
                  <a:srgbClr val="0B57D0"/>
                </a:solidFill>
                <a:latin typeface="Segoe UI"/>
              </a:rPr>
              <a:t>.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Виджет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напоминания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сохранение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правок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публикация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и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сбор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B2430"/>
                </a:solidFill>
                <a:latin typeface="Segoe UI"/>
              </a:rPr>
              <a:t>метрик</a:t>
            </a:r>
            <a:r>
              <a:rPr sz="1500" dirty="0">
                <a:solidFill>
                  <a:srgbClr val="1B2430"/>
                </a:solidFill>
                <a:latin typeface="Segoe U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10881360" cy="1188720"/>
          </a:xfrm>
          <a:prstGeom prst="roundRect">
            <a:avLst>
              <a:gd name="adj" fmla="val 9000"/>
            </a:avLst>
          </a:prstGeom>
          <a:solidFill>
            <a:srgbClr val="E8E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103327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dirty="0" err="1">
                <a:solidFill>
                  <a:srgbClr val="0B57D0"/>
                </a:solidFill>
                <a:latin typeface="Segoe UI"/>
              </a:rPr>
              <a:t>Спасибо</a:t>
            </a:r>
            <a:r>
              <a:rPr sz="2400" b="1" dirty="0">
                <a:solidFill>
                  <a:srgbClr val="0B57D0"/>
                </a:solidFill>
                <a:latin typeface="Segoe UI"/>
              </a:rPr>
              <a:t> </a:t>
            </a:r>
            <a:r>
              <a:rPr sz="2400" b="1" dirty="0" err="1">
                <a:solidFill>
                  <a:srgbClr val="0B57D0"/>
                </a:solidFill>
                <a:latin typeface="Segoe UI"/>
              </a:rPr>
              <a:t>за</a:t>
            </a:r>
            <a:r>
              <a:rPr sz="2400" b="1" dirty="0">
                <a:solidFill>
                  <a:srgbClr val="0B57D0"/>
                </a:solidFill>
                <a:latin typeface="Segoe UI"/>
              </a:rPr>
              <a:t> </a:t>
            </a:r>
            <a:r>
              <a:rPr sz="2400" b="1" dirty="0" err="1">
                <a:solidFill>
                  <a:srgbClr val="0B57D0"/>
                </a:solidFill>
                <a:latin typeface="Segoe UI"/>
              </a:rPr>
              <a:t>внимание</a:t>
            </a:r>
            <a:r>
              <a:rPr sz="2400" b="1" dirty="0">
                <a:solidFill>
                  <a:srgbClr val="0B57D0"/>
                </a:solidFill>
                <a:latin typeface="Segoe UI"/>
              </a:rPr>
              <a:t>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1977</Words>
  <Application>Microsoft Office PowerPoint</Application>
  <PresentationFormat>Широкоэкранный</PresentationFormat>
  <Paragraphs>174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Segoe UI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Stepa</dc:creator>
  <cp:keywords/>
  <dc:description>generated using python-pptx</dc:description>
  <cp:lastModifiedBy>Крупин Степан</cp:lastModifiedBy>
  <cp:revision>2</cp:revision>
  <dcterms:created xsi:type="dcterms:W3CDTF">2013-01-27T09:14:16Z</dcterms:created>
  <dcterms:modified xsi:type="dcterms:W3CDTF">2026-10-13T18:24:31Z</dcterms:modified>
  <cp:category/>
</cp:coreProperties>
</file>