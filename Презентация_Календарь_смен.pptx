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18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Представление команды. Называем тему: приложение «Календарь смен» для сотрудников со сменным графиком. Сразу обозначаем, кто за что отвечает, чтобы дальше каждый говорил о своей части. Общее время защиты — около 10–12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Проблема: сменщику нужно быстро понять, работает ли он в конкретный день. Штатные календари не знают про цикл «2 через 2», поэтому люди заполняют события вручную — на год это 150–180 записей, а при смене графика всё приходится переделывать. Цифру 16 % даёт опрос «Авито Работы» и «Контур.Толка» (май 2025, 7 500 человек); надёжность средняя, поэтому в отчёте она приведена как оценка, а не как факт.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Данные собраны вручную со страниц RuStore 2 октября 2026 года: рейтинг, число оценок и отзывов, скачивания и модель монетизации. Страницы Google Play из нашей среды не открывались, поэтому по ним цифры не приводим — это честная оговорка. Вывод: рынок сформирован, но монополиста нет, доли лидеров сопоставимы.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разобрали отзывы всех пяти приложений и выписали повторяющиеся претензии дословно. Самая ценная находка: у лидера по рейтингу пользователи массово не могут купить платную версию — оплата российскими картами не проходит. Это не проблема продукта, а проблема инфраструктуры, и она решается размещением в RuStore, где приём платежей работает, а комиссия — 15 %.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Модель — freemium с подпиской. Базовая версия бесплатна: она нужна, чтобы набрать аудиторию и отзывы. Платить предлагаем за удобство: несколько графиков, виджет, напоминания, экспорт и синхронизацию. Все допущения названы прямо, чтобы расчёт можно было проверить: 50 000 установок, 30 % активных, 2,5 % платящих, средний чек 917 рублей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Отличие от каждого конкурента формулируем одним предложением — так, чтобы его можно было проверить. Где мы пока отстаём, говорим прямо: у нас нет нескольких профилей, примечаний к дню и годового вида, и это стоит в бэклоге.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Перечисляем функции по факту: всё, что на слайде, проверено на устройстве. Отдельно называем ближайшие шаги — виджет и напоминания, потому что именно они чаще всего упоминаются в отзывах конкурентов.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Показываем четыре экрана: главный с графиком «2/2» от 1 октября 2026 года, раскрытые настройки, переход на следующий месяц и диалог правки дня. Обращаем внимание: 1 и 2 октября изменены вручную — красная и зелёная клетки, они отличаются от расчётных. Проверяли так: 1 ноября выходной, 2 и 3 ноября рабочие — совпадает с ручным подсчётом.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Дизайнер объясняет, на что опирался. Основа — Material 3 от Google: готовая система компонентов, поэтому интерфейс выглядит нативно. Паттерн календарной сетки взят из системного календаря. Главное решение принято по отзывам конкурентов: там пользователи жалуются, что не понимают, как задать график «2/2», поэтому у нас настройка — это два поля с числами.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Разработчик говорит про стек и архитектуру. Стек: Kotlin и Jetpack Compose. Архитектурно код разделён на три части: интерфейс, расчёт и состояние. Интерфейс описан декларативно — мы описываем, как экран выглядит для текущих данных, а Compose сам перерисовывает изменения. Это однонаправленный поток: данные идут вниз, события — вверх.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про то, как улучшали код. Перебор дней заменили на разницу дат — сложность упала с «по дню на каждый день» до одной операции. Объём файла сократили примерно в два раза. Убрали дублирование: текст в поле и сохранённое значение больше не путаются. И закрыли два падения — при вводе букв и при нулевой длине цикла.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про то, какие данные анализировали и как оценивали. Основные источники: карточки и отзывы пяти приложений в RuStore, опрос 7 500 человек о режиме работы, официальные страницы комиссий магазинов, закон о персональных данных и статья 103 Трудового кодекса. Все допущения названы прямо, а там, где данных не было, так и написано — цифры не додумывались.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ещё не опубликовано, поэтому фактические метрики не собраны — и мы говорим об этом прямо. Зато определены цели и способ измерения. Что уже проверено: расчёт совпал с ручным подсчётом для графика «2/2» от 1 октября 2026 года, включая переход между месяцами, и для графика «3/3».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Вывод: гипотеза подтверждена частично — основная функция работает и проверена, но спрос мы пока не измерили, потому что приложение не опубликовано. Развивать проект стоит при условии: сначала бесплатная публикация и сбор отзывов, затем платные функции. Экономику делает не цена подписки, а доля платящих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82296" cy="1234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164592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800" b="1">
                <a:solidFill>
                  <a:srgbClr val="1B2430"/>
                </a:solidFill>
                <a:latin typeface="Segoe UI"/>
              </a:rPr>
              <a:t>Календарь смен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95728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>
                <a:solidFill>
                  <a:srgbClr val="6B7280"/>
                </a:solidFill>
                <a:latin typeface="Segoe UI"/>
              </a:rPr>
              <a:t>Мобильное приложение для людей со сменным графиком работы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246120"/>
            <a:ext cx="5120640" cy="18288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47472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B2430"/>
                </a:solidFill>
                <a:latin typeface="Segoe UI"/>
              </a:rPr>
              <a:t>Командный проект · защита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Segoe UI"/>
              </a:rPr>
              <a:t>Аналитика и отчёт — [ФАМИЛИЯ И.О.]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Segoe UI"/>
              </a:rPr>
              <a:t>Разработка — [ФАМИЛИЯ И.О.]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Segoe UI"/>
              </a:rPr>
              <a:t>Дизайн UI/UX — [ФАМИЛИЯ И.О.]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989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6B7280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Проблема и целевая аудитория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1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520440" cy="141732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16 %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67128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работающих россиян трудятся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по сменному графику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520440" cy="141732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11–15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оценка численности людей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с циклическим графиком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25880"/>
            <a:ext cx="3520440" cy="141732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7888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300 тыс.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167128"/>
            <a:ext cx="3118104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скачиваний у лидера рынка —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меньше 3 % аудитории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63240"/>
            <a:ext cx="108813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Проблема. </a:t>
            </a:r>
            <a:r>
              <a:rPr sz="1400">
                <a:solidFill>
                  <a:srgbClr val="1B2430"/>
                </a:solidFill>
                <a:latin typeface="Segoe UI"/>
              </a:rPr>
              <a:t>График нужно знать заранее, а обычный календарь не понимает цикл.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Аудитория. </a:t>
            </a:r>
            <a:r>
              <a:rPr sz="1400">
                <a:solidFill>
                  <a:srgbClr val="1B2430"/>
                </a:solidFill>
                <a:latin typeface="Segoe UI"/>
              </a:rPr>
              <a:t>Охрана, медицина, торговля, производство, транспорт, вахта.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Сценарии. </a:t>
            </a:r>
            <a:r>
              <a:rPr sz="1400">
                <a:solidFill>
                  <a:srgbClr val="1B2430"/>
                </a:solidFill>
                <a:latin typeface="Segoe UI"/>
              </a:rPr>
              <a:t>Планирование дел, проверка дня, замена смены, смена графика.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Почему приложение. </a:t>
            </a:r>
            <a:r>
              <a:rPr sz="1400">
                <a:solidFill>
                  <a:srgbClr val="1B2430"/>
                </a:solidFill>
                <a:latin typeface="Segoe UI"/>
              </a:rPr>
              <a:t>Работает без интернета, ответ за 3 секунды, есть виджет и уведомления.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Источник данных. </a:t>
            </a:r>
            <a:r>
              <a:rPr sz="1400">
                <a:solidFill>
                  <a:srgbClr val="1B2430"/>
                </a:solidFill>
                <a:latin typeface="Segoe UI"/>
              </a:rPr>
              <a:t>Опрос 7 500 человек, 2025 год; надёжность оценена как средняя.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Анализ конкурентов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2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Приложение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Рейтинг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Оценок / отзывов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Скачиваний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Монетизация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График смен (Lili Petrik)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4,5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131 / 33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300 тыс.+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бесплатно, цены не раскрыты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Календарь рабочих смен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4,8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848 / 142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100 тыс.+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разовая покупка Pro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График смен — Simple Shift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4,8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1 400 / 273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90 тыс.+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бесплатно 2 графика, платно 4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WorkTime — график смен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3,8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19 / 10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20 тыс.+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бесплатно + неотключаемая реклама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График смен (Шварев Д.)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4,9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97 / 42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9 тыс.+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полностью бесплатно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77639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Рынок не насыщен. </a:t>
            </a:r>
            <a:r>
              <a:rPr sz="1400">
                <a:solidFill>
                  <a:srgbClr val="1B2430"/>
                </a:solidFill>
                <a:latin typeface="Segoe UI"/>
              </a:rPr>
              <a:t>Лидер — 300 тыс. скачиваний при 11–15 млн потенциальных пользователей.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Монополии нет. </a:t>
            </a:r>
            <a:r>
              <a:rPr sz="1400">
                <a:solidFill>
                  <a:srgbClr val="1B2430"/>
                </a:solidFill>
                <a:latin typeface="Segoe UI"/>
              </a:rPr>
              <a:t>Три приложения делят аудиторию сопоставимыми долями.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Рейтинг падает из-за релизов. </a:t>
            </a:r>
            <a:r>
              <a:rPr sz="1400">
                <a:solidFill>
                  <a:srgbClr val="1B2430"/>
                </a:solidFill>
                <a:latin typeface="Segoe UI"/>
              </a:rPr>
              <a:t>WorkTime опустился до 3,8 не из-за функций, а из-за сбоев после обновлений.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Претензии пользователей — наши возможности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2.4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606040" cy="2148840"/>
          </a:xfrm>
          <a:prstGeom prst="roundRect">
            <a:avLst>
              <a:gd name="adj" fmla="val 7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5361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C62828"/>
                </a:solidFill>
                <a:latin typeface="Segoe UI"/>
              </a:rPr>
              <a:t>Нельзя оплатить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084831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00">
                <a:solidFill>
                  <a:srgbClr val="1B2430"/>
                </a:solidFill>
                <a:latin typeface="Segoe UI"/>
              </a:rPr>
              <a:t>   «с карты Мир оплата не возможна» — 6+ отзывов у лидера (4,8 · 100 тыс.+)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1" y="1325880"/>
            <a:ext cx="2606040" cy="2148840"/>
          </a:xfrm>
          <a:prstGeom prst="roundRect">
            <a:avLst>
              <a:gd name="adj" fmla="val 7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79" y="15361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C62828"/>
                </a:solidFill>
                <a:latin typeface="Segoe UI"/>
              </a:rPr>
              <a:t>Белый экран после обновления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084831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00">
                <a:solidFill>
                  <a:srgbClr val="1B2430"/>
                </a:solidFill>
                <a:latin typeface="Segoe UI"/>
              </a:rPr>
              <a:t>   «Тупо белый экран», «Не работает после обновления» — WorkTime, рейтинг 3,8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25880"/>
            <a:ext cx="2606040" cy="2148840"/>
          </a:xfrm>
          <a:prstGeom prst="roundRect">
            <a:avLst>
              <a:gd name="adj" fmla="val 7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2512" y="15361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C62828"/>
                </a:solidFill>
                <a:latin typeface="Segoe UI"/>
              </a:rPr>
              <a:t>Потеря данных при переустановке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084831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00">
                <a:solidFill>
                  <a:srgbClr val="1B2430"/>
                </a:solidFill>
                <a:latin typeface="Segoe UI"/>
              </a:rPr>
              <a:t>   «расписала все дела на два месяца вперёд &lt;…&gt; всё слетело» — Simple Shift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325880"/>
            <a:ext cx="2606040" cy="2148840"/>
          </a:xfrm>
          <a:prstGeom prst="roundRect">
            <a:avLst>
              <a:gd name="adj" fmla="val 7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53144" y="15361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6B7280"/>
                </a:solidFill>
                <a:latin typeface="Segoe UI"/>
              </a:rPr>
              <a:t>Реклама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084831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00">
                <a:solidFill>
                  <a:srgbClr val="1B2430"/>
                </a:solidFill>
                <a:latin typeface="Segoe UI"/>
              </a:rPr>
              <a:t>   3 из 5 приложений подают отсутствие рекламы как преимущество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9000"/>
            </a:avLst>
          </a:prstGeom>
          <a:solidFill>
            <a:srgbClr val="E8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968496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0B57D0"/>
                </a:solidFill>
                <a:latin typeface="Segoe UI"/>
              </a:rPr>
              <a:t>Вывод для продукта: </a:t>
            </a:r>
            <a:r>
              <a:rPr sz="1500">
                <a:solidFill>
                  <a:srgbClr val="1B2430"/>
                </a:solidFill>
                <a:latin typeface="Segoe UI"/>
              </a:rPr>
              <a:t>первый канал распространения — RuStore (оплата работает, комиссия 15 %), приложение без рекламы, базовая версия бесплатная.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Позиционирование. </a:t>
            </a:r>
            <a:r>
              <a:rPr sz="1400">
                <a:solidFill>
                  <a:srgbClr val="1B2430"/>
                </a:solidFill>
                <a:latin typeface="Segoe UI"/>
              </a:rPr>
              <a:t>Тот же автоматический расчёт, но платные функции реально можно оплатить из России.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Бизнес-модель и монетизация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3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3520440" cy="137160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149 ₽ / 990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167128"/>
            <a:ext cx="31181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подписка в месяц или год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(годовая выгоднее в 1,8 раза)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520440" cy="137160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292 100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1181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выручка за первый год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после комиссии магазина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25880"/>
            <a:ext cx="3520440" cy="137160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47888" y="1508760"/>
            <a:ext cx="3118104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57D0"/>
                </a:solidFill>
                <a:latin typeface="Segoe UI"/>
              </a:rPr>
              <a:t>405 500 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167128"/>
            <a:ext cx="31181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бюджет разработки</a:t>
            </a:r>
          </a:p>
          <a:p>
            <a:r>
              <a:rPr sz="1200">
                <a:solidFill>
                  <a:srgbClr val="6B7280"/>
                </a:solidFill>
                <a:latin typeface="Segoe UI"/>
              </a:rPr>
              <a:t>и запуска проекта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108813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Бесплатно. </a:t>
            </a:r>
            <a:r>
              <a:rPr sz="1400">
                <a:solidFill>
                  <a:srgbClr val="1B2430"/>
                </a:solidFill>
                <a:latin typeface="Segoe UI"/>
              </a:rPr>
              <a:t>Один график, расчёт цикла, ручная правка дня, цветовая индикация.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По подписке. </a:t>
            </a:r>
            <a:r>
              <a:rPr sz="1400">
                <a:solidFill>
                  <a:srgbClr val="1B2430"/>
                </a:solidFill>
                <a:latin typeface="Segoe UI"/>
              </a:rPr>
              <a:t>Несколько графиков, виджет, напоминания, экспорт, синхронизация.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Расчёт выручки. </a:t>
            </a:r>
            <a:r>
              <a:rPr sz="1400">
                <a:solidFill>
                  <a:srgbClr val="1B2430"/>
                </a:solidFill>
                <a:latin typeface="Segoe UI"/>
              </a:rPr>
              <a:t>50 000 установок → 15 000 активных → 2,5 % платящих = 375 человек → 343 700 ₽ до комиссии.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Окупаемость. </a:t>
            </a:r>
            <a:r>
              <a:rPr sz="1400">
                <a:solidFill>
                  <a:srgbClr val="1B2430"/>
                </a:solidFill>
                <a:latin typeface="Segoe UI"/>
              </a:rPr>
              <a:t>Базовый сценарий — около 19 месяцев, оптимистичный — около 4.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Ключевой рычаг. </a:t>
            </a:r>
            <a:r>
              <a:rPr sz="1400">
                <a:solidFill>
                  <a:srgbClr val="1B2430"/>
                </a:solidFill>
                <a:latin typeface="Segoe UI"/>
              </a:rPr>
              <a:t>Не цена подписки, а доля платящих: рост с 2,5 % до 4 % даёт больше, чем подорожание.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Позиционирование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2.4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17904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Против «Календаря рабочих смен»: </a:t>
            </a:r>
            <a:r>
              <a:rPr sz="1400">
                <a:solidFill>
                  <a:srgbClr val="1B2430"/>
                </a:solidFill>
                <a:latin typeface="Segoe UI"/>
              </a:rPr>
              <a:t>тот же расчёт, но оплата реально работает из России.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1284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Против «Графика смен» (Lili Petrik): </a:t>
            </a:r>
            <a:r>
              <a:rPr sz="1400">
                <a:solidFill>
                  <a:srgbClr val="1B2430"/>
                </a:solidFill>
                <a:latin typeface="Segoe UI"/>
              </a:rPr>
              <a:t>настройка «2/2» — два числа и дата, без поиска инструкции.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Против Simple Shift: </a:t>
            </a:r>
            <a:r>
              <a:rPr sz="1400">
                <a:solidFill>
                  <a:srgbClr val="1B2430"/>
                </a:solidFill>
                <a:latin typeface="Segoe UI"/>
              </a:rPr>
              <a:t>данные не теряются при переустановке, обновления не ломают базовый экран.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95344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04164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Против WorkTime: </a:t>
            </a:r>
            <a:r>
              <a:rPr sz="1400">
                <a:solidFill>
                  <a:srgbClr val="1B2430"/>
                </a:solidFill>
                <a:latin typeface="Segoe UI"/>
              </a:rPr>
              <a:t>полностью без рекламы — приложение открывают на три секунды.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36592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882896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Против «Графика смен» (Шварев Д.): </a:t>
            </a:r>
            <a:r>
              <a:rPr sz="1400">
                <a:solidFill>
                  <a:srgbClr val="1B2430"/>
                </a:solidFill>
                <a:latin typeface="Segoe UI"/>
              </a:rPr>
              <a:t>отстаём по числу функций и честно закрываем разрыв в бэклоге; наше преимущество — короткий путь до ответа.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Продукт: что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4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766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Настройка графика. </a:t>
            </a:r>
            <a:r>
              <a:rPr sz="1400">
                <a:solidFill>
                  <a:srgbClr val="1B2430"/>
                </a:solidFill>
                <a:latin typeface="Segoe UI"/>
              </a:rPr>
              <a:t>Пользователь сам вводит число рабочих и выходных дней.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Автоматический расчёт. </a:t>
            </a:r>
            <a:r>
              <a:rPr sz="1400">
                <a:solidFill>
                  <a:srgbClr val="1B2430"/>
                </a:solidFill>
                <a:latin typeface="Segoe UI"/>
              </a:rPr>
              <a:t>Смены считаются на любой месяц, включая переход между годами.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Листание месяцев. </a:t>
            </a:r>
            <a:r>
              <a:rPr sz="1400">
                <a:solidFill>
                  <a:srgbClr val="1B2430"/>
                </a:solidFill>
                <a:latin typeface="Segoe UI"/>
              </a:rPr>
              <a:t>Кнопки «&lt;&lt;» и «&gt;&gt;» с мгновенным пересчётом сетки.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Ручная правка дня. </a:t>
            </a:r>
            <a:r>
              <a:rPr sz="1400">
                <a:solidFill>
                  <a:srgbClr val="1B2430"/>
                </a:solidFill>
                <a:latin typeface="Segoe UI"/>
              </a:rPr>
              <a:t>Диалог «Настройка дня»: «Рабочий», «Выходной», «Сбросить».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Приоритет правки. </a:t>
            </a:r>
            <a:r>
              <a:rPr sz="1400">
                <a:solidFill>
                  <a:srgbClr val="1B2430"/>
                </a:solidFill>
                <a:latin typeface="Segoe UI"/>
              </a:rPr>
              <a:t>Решение пользователя важнее расчёта по циклу.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Цветовая индикация. </a:t>
            </a:r>
            <a:r>
              <a:rPr sz="1400">
                <a:solidFill>
                  <a:srgbClr val="1B2430"/>
                </a:solidFill>
                <a:latin typeface="Segoe UI"/>
              </a:rPr>
              <a:t>Синий — рабочий, серый — выходной, зелёный и красный — правка вручную.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Безопасный ввод. </a:t>
            </a:r>
            <a:r>
              <a:rPr sz="1400">
                <a:solidFill>
                  <a:srgbClr val="1B2430"/>
                </a:solidFill>
                <a:latin typeface="Segoe UI"/>
              </a:rPr>
              <a:t>Буквы в поле не роняют приложение: значение заменяется на 2.</a:t>
            </a:r>
          </a:p>
        </p:txBody>
      </p:sp>
      <p:pic>
        <p:nvPicPr>
          <p:cNvPr id="8" name="Picture 7" descr="real_01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325880"/>
            <a:ext cx="1691640" cy="3721608"/>
          </a:xfrm>
          <a:prstGeom prst="rect">
            <a:avLst/>
          </a:prstGeom>
        </p:spPr>
      </p:pic>
      <p:pic>
        <p:nvPicPr>
          <p:cNvPr id="9" name="Picture 8" descr="real_02_dia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8360" y="1737360"/>
            <a:ext cx="1783080" cy="12502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8120" y="5074920"/>
            <a:ext cx="3749039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Segoe UI"/>
              </a:rPr>
              <a:t>После MVP: виджет на рабочий стол, напоминания о смене, несколько графиков, синхронизация между устройствами.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Демонстрация работы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скриншоты реального запуска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8</a:t>
            </a:r>
          </a:p>
        </p:txBody>
      </p:sp>
      <p:pic>
        <p:nvPicPr>
          <p:cNvPr id="7" name="Picture 6" descr="real_01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1325880"/>
            <a:ext cx="1645920" cy="3621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47488"/>
            <a:ext cx="285292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Segoe UI"/>
              </a:rPr>
              <a:t>Главный экран: график «2/2»</a:t>
            </a:r>
          </a:p>
        </p:txBody>
      </p:sp>
      <p:pic>
        <p:nvPicPr>
          <p:cNvPr id="9" name="Picture 8" descr="real_03_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1325880"/>
            <a:ext cx="1645920" cy="35587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93008" y="5047488"/>
            <a:ext cx="285292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Segoe UI"/>
              </a:rPr>
              <a:t>Настройки и правка дней</a:t>
            </a:r>
          </a:p>
        </p:txBody>
      </p:sp>
      <p:pic>
        <p:nvPicPr>
          <p:cNvPr id="11" name="Picture 10" descr="real_04_nove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325880"/>
            <a:ext cx="1645920" cy="34538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45936" y="5047488"/>
            <a:ext cx="285292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Segoe UI"/>
              </a:rPr>
              <a:t>Переход на ноябрь 2026</a:t>
            </a:r>
          </a:p>
        </p:txBody>
      </p:sp>
      <p:pic>
        <p:nvPicPr>
          <p:cNvPr id="13" name="Picture 12" descr="real_02_dia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3767" y="2404872"/>
            <a:ext cx="2103120" cy="147469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8863" y="5047488"/>
            <a:ext cx="285292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Segoe UI"/>
              </a:rPr>
              <a:t>Диалог «Настройка дня»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Вклад: дизайн UI/UX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[ФАМИЛИЯ И.О.]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63093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На что опирался. </a:t>
            </a:r>
            <a:r>
              <a:rPr sz="1300">
                <a:solidFill>
                  <a:srgbClr val="1B2430"/>
                </a:solidFill>
                <a:latin typeface="Segoe UI"/>
              </a:rPr>
              <a:t>Material 3: готовая система компонентов, кнопок, полей и диалогов.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Что взял за основу. </a:t>
            </a:r>
            <a:r>
              <a:rPr sz="1300">
                <a:solidFill>
                  <a:srgbClr val="1B2430"/>
                </a:solidFill>
                <a:latin typeface="Segoe UI"/>
              </a:rPr>
              <a:t>Сетка календаря 7 колонок и цветовая индикация смен — как в системном календаре.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Учёл из отзывов. </a:t>
            </a:r>
            <a:r>
              <a:rPr sz="1300">
                <a:solidFill>
                  <a:srgbClr val="1B2430"/>
                </a:solidFill>
                <a:latin typeface="Segoe UI"/>
              </a:rPr>
              <a:t>«Как установить график 2/2» → настройка из двух полей вместо меню.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Обоснование решений. </a:t>
            </a:r>
            <a:r>
              <a:rPr sz="1300">
                <a:solidFill>
                  <a:srgbClr val="1B2430"/>
                </a:solidFill>
                <a:latin typeface="Segoe UI"/>
              </a:rPr>
              <a:t>Цвет вместо текста: состояние дня читается мгновенно. Крупные клетки — попадание пальцем.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Состояния элементов. </a:t>
            </a:r>
            <a:r>
              <a:rPr sz="1300">
                <a:solidFill>
                  <a:srgbClr val="1B2430"/>
                </a:solidFill>
                <a:latin typeface="Segoe UI"/>
              </a:rPr>
              <a:t>Кнопка: обычная, нажатая, неактивная. Поле: обычное, в фокусе, с ошибкой.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0B57D0"/>
                </a:solidFill>
                <a:latin typeface="Segoe UI"/>
              </a:rPr>
              <a:t>—  Что осталось. </a:t>
            </a:r>
            <a:r>
              <a:rPr sz="1300">
                <a:solidFill>
                  <a:srgbClr val="1B2430"/>
                </a:solidFill>
                <a:latin typeface="Segoe UI"/>
              </a:rPr>
              <a:t>Иконки для внутренних экранов и тёмная тема оформления.</a:t>
            </a:r>
          </a:p>
        </p:txBody>
      </p:sp>
      <p:pic>
        <p:nvPicPr>
          <p:cNvPr id="8" name="Picture 7" descr="ui_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1" y="1325880"/>
            <a:ext cx="3566160" cy="423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8040" y="5632704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>
                <a:solidFill>
                  <a:srgbClr val="6B7280"/>
                </a:solidFill>
                <a:latin typeface="Segoe UI"/>
              </a:rPr>
              <a:t>UI-кит: палитра, шрифты, компоненты и состояния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Вклад: разработка — стек и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[ФАМИЛИЯ И.О.]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Стек. </a:t>
            </a:r>
            <a:r>
              <a:rPr sz="1400">
                <a:solidFill>
                  <a:srgbClr val="1B2430"/>
                </a:solidFill>
                <a:latin typeface="Segoe UI"/>
              </a:rPr>
              <a:t>Kotlin, Jetpack Compose, Material 3, минимальная версия Android 8.0, сборка Gradle.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Разделение слоёв. </a:t>
            </a:r>
            <a:r>
              <a:rPr sz="1400">
                <a:solidFill>
                  <a:srgbClr val="1B2430"/>
                </a:solidFill>
                <a:latin typeface="Segoe UI"/>
              </a:rPr>
              <a:t>Интерфейс — Compose. Логика — расчёт смены. Состояние — remember и State.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Декларативный подход. </a:t>
            </a:r>
            <a:r>
              <a:rPr sz="1400">
                <a:solidFill>
                  <a:srgbClr val="1B2430"/>
                </a:solidFill>
                <a:latin typeface="Segoe UI"/>
              </a:rPr>
              <a:t>Описываем, как экран выглядит при текущих данных; перерисовку делает Compose.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Однонаправленный поток. </a:t>
            </a:r>
            <a:r>
              <a:rPr sz="1400">
                <a:solidFill>
                  <a:srgbClr val="1B2430"/>
                </a:solidFill>
                <a:latin typeface="Segoe UI"/>
              </a:rPr>
              <a:t>Данные идут вниз, события — вверх; состояние меняется только в одном месте.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Иммутабельные данные. </a:t>
            </a:r>
            <a:r>
              <a:rPr sz="1400">
                <a:solidFill>
                  <a:srgbClr val="1B2430"/>
                </a:solidFill>
                <a:latin typeface="Segoe UI"/>
              </a:rPr>
              <a:t>Правки дней хранятся как неизменяемый словарь: дата → рабочий или выходной.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400" b="1">
                <a:solidFill>
                  <a:srgbClr val="0B57D0"/>
                </a:solidFill>
                <a:latin typeface="Segoe UI"/>
              </a:rPr>
              <a:t>—  Работа с датами. </a:t>
            </a:r>
            <a:r>
              <a:rPr sz="1400">
                <a:solidFill>
                  <a:srgbClr val="1B2430"/>
                </a:solidFill>
                <a:latin typeface="Segoe UI"/>
              </a:rPr>
              <a:t>Модуль java.time вместо ручной арифметики — нет ошибок с високосными годами.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0B57D0"/>
                </a:solidFill>
                <a:latin typeface="Segoe UI"/>
              </a:rPr>
              <a:t>Формула расчёта: </a:t>
            </a:r>
            <a:r>
              <a:rPr sz="1400">
                <a:solidFill>
                  <a:srgbClr val="1B2430"/>
                </a:solidFill>
                <a:latin typeface="Segoe UI"/>
              </a:rPr>
              <a:t>день рабочий, если (дней от начала графика) % (рабочих + выходных) &lt; рабочих. Ручная правка дня важнее расчёта.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Вклад: разработка — оптимизация кода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[ФАМИЛИЯ И.О.]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8132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Segoe UI"/>
              </a:rPr>
              <a:t>Быстрее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517904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1B2430"/>
                </a:solidFill>
                <a:latin typeface="Segoe UI"/>
              </a:rPr>
              <a:t>Перебор дней от начала графика заменён на разницу дат: вместо шага по каждому дню — одна операция.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50591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Segoe UI"/>
              </a:rPr>
              <a:t>Короче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96896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1B2430"/>
                </a:solidFill>
                <a:latin typeface="Segoe UI"/>
              </a:rPr>
              <a:t>Объём одного файла сокращён примерно вдвое — примерно с 310 до 150 строк, без потери функций.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9584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63931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Segoe UI"/>
              </a:rPr>
              <a:t>Надёжнее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675887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1B2430"/>
                </a:solidFill>
                <a:latin typeface="Segoe UI"/>
              </a:rPr>
              <a:t>Закрыты два падения: ввод букв в поле (теперь toIntOrNull) и нулевая длина цикла (защита от деления на ноль).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08576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71830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Segoe UI"/>
              </a:rPr>
              <a:t>Аккуратнее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754880"/>
            <a:ext cx="8412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>
                <a:solidFill>
                  <a:srgbClr val="1B2430"/>
                </a:solidFill>
                <a:latin typeface="Segoe UI"/>
              </a:rPr>
              <a:t>Убраны неиспользуемые импорты — проверено компилятором, а не на глаз.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7900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6B7280"/>
                </a:solidFill>
                <a:latin typeface="Segoe UI"/>
              </a:rPr>
              <a:t>Исправлено попутно: заголовок больше не налезает на строку состояния. В планах — сохранение правок между запусками приложения.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Вклад: аналитика и отчёт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[ФАМИЛИЯ И.О.]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0B57D0"/>
                </a:solidFill>
                <a:latin typeface="Segoe UI"/>
              </a:rPr>
              <a:t>Какие данные анализировал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5 приложений в RuStore: рейтинг, отзывы, монетизация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Опрос 7 500 человек о режиме работы (2025)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Комиссии магазинов: RuStore 15 %, Google Play, App Store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152-ФЗ и статья 103 ТК РФ о сменной работе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257800" cy="265176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5361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0B57D0"/>
                </a:solidFill>
                <a:latin typeface="Segoe UI"/>
              </a:rPr>
              <a:t>Как оценивал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11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Формула: активные × доля платящих × средний чек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Три сценария: пессимистичный, базовый, оптимистичный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Допущения названы: база 70–75 млн занятых, чек 917 ₽/год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>
                <a:solidFill>
                  <a:srgbClr val="1B2430"/>
                </a:solidFill>
                <a:latin typeface="Segoe UI"/>
              </a:rPr>
              <a:t>•  Надёжность каждой цифры указана прямо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6240"/>
            <a:ext cx="10881360" cy="1600200"/>
          </a:xfrm>
          <a:prstGeom prst="roundRect">
            <a:avLst>
              <a:gd name="adj" fmla="val 7000"/>
            </a:avLst>
          </a:prstGeom>
          <a:solidFill>
            <a:srgbClr val="E8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0B57D0"/>
                </a:solidFill>
                <a:latin typeface="Segoe UI"/>
              </a:rPr>
              <a:t>Что дал анализ для продукта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—  Ниша. </a:t>
            </a:r>
            <a:r>
              <a:rPr sz="1200">
                <a:solidFill>
                  <a:srgbClr val="1B2430"/>
                </a:solidFill>
                <a:latin typeface="Segoe UI"/>
              </a:rPr>
              <a:t>Лидер занимает меньше 3 % аудитории — место для нового продукта есть.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—  Ключевая возможность. </a:t>
            </a:r>
            <a:r>
              <a:rPr sz="1200">
                <a:solidFill>
                  <a:srgbClr val="1B2430"/>
                </a:solidFill>
                <a:latin typeface="Segoe UI"/>
              </a:rPr>
              <a:t>Оплата из России не работает у лидера — RuStore решает это.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—  Риски и план. </a:t>
            </a:r>
            <a:r>
              <a:rPr sz="1200">
                <a:solidFill>
                  <a:srgbClr val="1B2430"/>
                </a:solidFill>
                <a:latin typeface="Segoe UI"/>
              </a:rPr>
              <a:t>5 рисков с мерами: уход разработчика, сроки, ошибки в расчёте, спрос, потеря кода.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Метрики и результаты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Раздел 7 отчёта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Метрика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Цель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Segoe UI"/>
                        </a:rPr>
                        <a:t>Как измеряем</a:t>
                      </a:r>
                    </a:p>
                  </a:txBody>
                  <a:tcPr marL="73152" marR="54864" marT="27432" marB="27432" anchor="ctr">
                    <a:solidFill>
                      <a:srgbClr val="E8EF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Активация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≥ 60 % создали график после установки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события в приложении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Удержание 1 дня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≥ 40 % вернулись на следующий день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события сессий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Конверсия в целевое действие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≥ 20 % настроили график и правили дни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события в приложении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Средняя оценка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≥ 4,0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опрос тестировщиков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Стабильность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≥ 99 % сессий без падений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отчёты о сбоях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Время настройки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≤ 60 секунд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Segoe UI"/>
                        </a:rPr>
                        <a:t>замер на 5 добровольцах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1">
                <a:solidFill>
                  <a:srgbClr val="2E7D32"/>
                </a:solidFill>
                <a:latin typeface="Segoe UI"/>
              </a:rPr>
              <a:t>Что уже подтверждено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—  Расчёт верный. </a:t>
            </a:r>
            <a:r>
              <a:rPr sz="1200">
                <a:solidFill>
                  <a:srgbClr val="1B2430"/>
                </a:solidFill>
                <a:latin typeface="Segoe UI"/>
              </a:rPr>
              <a:t>2/2 от 01.10.2026: 1 ноября — выходной, 2 и 3 ноября — рабочие. Совпало с ручной проверкой.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—  Данные хранятся. </a:t>
            </a:r>
            <a:r>
              <a:rPr sz="1200">
                <a:solidFill>
                  <a:srgbClr val="1B2430"/>
                </a:solidFill>
                <a:latin typeface="Segoe UI"/>
              </a:rPr>
              <a:t>Настройки и правки дней сохраняются при работе приложения.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91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900" b="1">
                <a:solidFill>
                  <a:srgbClr val="1B2430"/>
                </a:solidFill>
                <a:latin typeface="Segoe UI"/>
              </a:rPr>
              <a:t>Итоги и планы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05840"/>
            <a:ext cx="1280160" cy="50292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949440" y="502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Segoe UI"/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6B7280"/>
                </a:solidFill>
              </a:rPr>
              <a:t>Календарь смен · командный проект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64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>
                <a:solidFill>
                  <a:srgbClr val="6B7280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1">
                <a:solidFill>
                  <a:srgbClr val="0B57D0"/>
                </a:solidFill>
                <a:latin typeface="Segoe UI"/>
              </a:rPr>
              <a:t>—  Гипотеза подтверждена частично. </a:t>
            </a:r>
            <a:r>
              <a:rPr sz="1500">
                <a:solidFill>
                  <a:srgbClr val="1B2430"/>
                </a:solidFill>
                <a:latin typeface="Segoe UI"/>
              </a:rPr>
              <a:t>Расчёт смен работает и проверен; спрос ещё не измерен.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1">
                <a:solidFill>
                  <a:srgbClr val="0B57D0"/>
                </a:solidFill>
                <a:latin typeface="Segoe UI"/>
              </a:rPr>
              <a:t>—  Условие развития. </a:t>
            </a:r>
            <a:r>
              <a:rPr sz="1500">
                <a:solidFill>
                  <a:srgbClr val="1B2430"/>
                </a:solidFill>
                <a:latin typeface="Segoe UI"/>
              </a:rPr>
              <a:t>Сначала бесплатная публикация в RuStore, отзывы и метрики — потом подписка.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1">
                <a:solidFill>
                  <a:srgbClr val="0B57D0"/>
                </a:solidFill>
                <a:latin typeface="Segoe UI"/>
              </a:rPr>
              <a:t>—  Что изменить в модели. </a:t>
            </a:r>
            <a:r>
              <a:rPr sz="1500">
                <a:solidFill>
                  <a:srgbClr val="1B2430"/>
                </a:solidFill>
                <a:latin typeface="Segoe UI"/>
              </a:rPr>
              <a:t>Ценность подписки строить не на расчёте, а на синхронизации, виджете и напоминаниях.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500" b="1">
                <a:solidFill>
                  <a:srgbClr val="0B57D0"/>
                </a:solidFill>
                <a:latin typeface="Segoe UI"/>
              </a:rPr>
              <a:t>—  Ближайшие шаги. </a:t>
            </a:r>
            <a:r>
              <a:rPr sz="1500">
                <a:solidFill>
                  <a:srgbClr val="1B2430"/>
                </a:solidFill>
                <a:latin typeface="Segoe UI"/>
              </a:rPr>
              <a:t>Виджет, напоминания, сохранение правок, публикация и сбор метрик.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9000"/>
            </a:avLst>
          </a:prstGeom>
          <a:solidFill>
            <a:srgbClr val="E8EF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0B57D0"/>
                </a:solidFill>
                <a:latin typeface="Segoe UI"/>
              </a:rPr>
              <a:t>Спасибо за внимание!</a:t>
            </a:r>
          </a:p>
          <a:p>
            <a:pPr algn="ctr"/>
            <a:r>
              <a:rPr sz="1300">
                <a:solidFill>
                  <a:srgbClr val="6B7280"/>
                </a:solidFill>
                <a:latin typeface="Segoe UI"/>
              </a:rPr>
              <a:t>Готовы ответить на вопросы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2457</Words>
  <Application>Microsoft Office PowerPoint</Application>
  <PresentationFormat>Широкоэкранный</PresentationFormat>
  <Paragraphs>228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Arial</vt:lpstr>
      <vt:lpstr>Calibri</vt:lpstr>
      <vt:lpstr>Segoe UI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Stepa</dc:creator>
  <cp:keywords/>
  <dc:description>generated using python-pptx</dc:description>
  <cp:lastModifiedBy>Крупин Степан</cp:lastModifiedBy>
  <cp:revision>1</cp:revision>
  <dcterms:created xsi:type="dcterms:W3CDTF">2013-01-27T09:14:16Z</dcterms:created>
  <dcterms:modified xsi:type="dcterms:W3CDTF">2026-10-06T18:21:18Z</dcterms:modified>
  <cp:category/>
</cp:coreProperties>
</file>